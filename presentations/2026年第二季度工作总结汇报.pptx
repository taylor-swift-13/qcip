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"/>
  </p:notesMasterIdLst>
  <p:handoutMasterIdLst>
    <p:handoutMasterId r:id="rId23"/>
  </p:handoutMasterIdLst>
  <p:sldIdLst>
    <p:sldId id="1702" r:id="rId3"/>
    <p:sldId id="2327" r:id="rId5"/>
    <p:sldId id="2356" r:id="rId6"/>
    <p:sldId id="2367" r:id="rId7"/>
    <p:sldId id="2368" r:id="rId8"/>
    <p:sldId id="2369" r:id="rId9"/>
    <p:sldId id="2358" r:id="rId10"/>
    <p:sldId id="2370" r:id="rId11"/>
    <p:sldId id="2372" r:id="rId12"/>
    <p:sldId id="2357" r:id="rId13"/>
    <p:sldId id="2359" r:id="rId14"/>
    <p:sldId id="2363" r:id="rId15"/>
    <p:sldId id="2364" r:id="rId16"/>
    <p:sldId id="2360" r:id="rId17"/>
    <p:sldId id="2365" r:id="rId18"/>
    <p:sldId id="2366" r:id="rId19"/>
    <p:sldId id="2361" r:id="rId20"/>
    <p:sldId id="1973" r:id="rId21"/>
    <p:sldId id="1743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pos="3840" userDrawn="1">
          <p15:clr>
            <a:srgbClr val="A4A3A4"/>
          </p15:clr>
        </p15:guide>
        <p15:guide id="10" pos="363" userDrawn="1">
          <p15:clr>
            <a:srgbClr val="A4A3A4"/>
          </p15:clr>
        </p15:guide>
        <p15:guide id="11" pos="7317" userDrawn="1">
          <p15:clr>
            <a:srgbClr val="A4A3A4"/>
          </p15:clr>
        </p15:guide>
        <p15:guide id="12" orient="horz" pos="218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小白 白" initials="小白" lastIdx="10" clrIdx="6"/>
  <p:cmAuthor id="1" name="13501127502@126.com" initials="1" lastIdx="7" clrIdx="0"/>
  <p:cmAuthor id="8" name="Ming Zhao" initials="ZM" lastIdx="1" clrIdx="7"/>
  <p:cmAuthor id="2" name="admin" initials="a" lastIdx="15" clrIdx="1"/>
  <p:cmAuthor id="3" name="Windows 用户" initials="W用" lastIdx="13" clrIdx="2"/>
  <p:cmAuthor id="4" name="zhaoming" initials="z" lastIdx="9" clrIdx="3"/>
  <p:cmAuthor id="5" name="赵 明" initials="赵" lastIdx="160" clrIdx="4"/>
  <p:cmAuthor id="6" name="Win10 Hello!" initials="WH" lastIdx="2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CB4"/>
    <a:srgbClr val="0432FF"/>
    <a:srgbClr val="005493"/>
    <a:srgbClr val="011893"/>
    <a:srgbClr val="521B93"/>
    <a:srgbClr val="012E87"/>
    <a:srgbClr val="FF40FF"/>
    <a:srgbClr val="2292C4"/>
    <a:srgbClr val="0070C0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67" autoAdjust="0"/>
    <p:restoredTop sz="87986" autoAdjust="0"/>
  </p:normalViewPr>
  <p:slideViewPr>
    <p:cSldViewPr snapToGrid="0" showGuides="1">
      <p:cViewPr>
        <p:scale>
          <a:sx n="106" d="100"/>
          <a:sy n="106" d="100"/>
        </p:scale>
        <p:origin x="984" y="160"/>
      </p:cViewPr>
      <p:guideLst>
        <p:guide pos="3840"/>
        <p:guide pos="363"/>
        <p:guide pos="7317"/>
        <p:guide orient="horz" pos="2183"/>
      </p:guideLst>
    </p:cSldViewPr>
  </p:slideViewPr>
  <p:outlineViewPr>
    <p:cViewPr>
      <p:scale>
        <a:sx n="33" d="100"/>
        <a:sy n="33" d="100"/>
      </p:scale>
      <p:origin x="0" y="782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4F4A40-BD67-0E4F-9360-529D0E22A9C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C7D873-633D-AE49-BE6A-CBFD989223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C367EE-C53D-4094-A02B-8655132EEA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DE4503-A94C-4765-8E71-BF5BCAD6DCA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40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DE4503-A94C-4765-8E71-BF5BCAD6DCA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DE4503-A94C-4765-8E71-BF5BCAD6DCA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DE4503-A94C-4765-8E71-BF5BCAD6DCA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DE4503-A94C-4765-8E71-BF5BCAD6DCA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DE4503-A94C-4765-8E71-BF5BCAD6DCA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DE4503-A94C-4765-8E71-BF5BCAD6DCA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DE4503-A94C-4765-8E71-BF5BCAD6DCA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DE4503-A94C-4765-8E71-BF5BCAD6DCA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DE4503-A94C-4765-8E71-BF5BCAD6DCA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DE4503-A94C-4765-8E71-BF5BCAD6DCA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DE4503-A94C-4765-8E71-BF5BCAD6DCA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DE4503-A94C-4765-8E71-BF5BCAD6DCA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DE4503-A94C-4765-8E71-BF5BCAD6DCA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DE4503-A94C-4765-8E71-BF5BCAD6DCA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E000-400B-49E5-A4B3-B6F0CB0FC0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E000-400B-49E5-A4B3-B6F0CB0FC0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E000-400B-49E5-A4B3-B6F0CB0FC0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E000-400B-49E5-A4B3-B6F0CB0FC0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E000-400B-49E5-A4B3-B6F0CB0FC0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E000-400B-49E5-A4B3-B6F0CB0FC0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E000-400B-49E5-A4B3-B6F0CB0FC0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E000-400B-49E5-A4B3-B6F0CB0FC0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E000-400B-49E5-A4B3-B6F0CB0FC0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E000-400B-49E5-A4B3-B6F0CB0FC0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E000-400B-49E5-A4B3-B6F0CB0FC0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国科模板-z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0" y="791936"/>
            <a:ext cx="12192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0" y="1"/>
            <a:ext cx="12202163" cy="812067"/>
            <a:chOff x="0" y="0"/>
            <a:chExt cx="9151622" cy="812067"/>
          </a:xfrm>
        </p:grpSpPr>
        <p:pic>
          <p:nvPicPr>
            <p:cNvPr id="5" name="Picture 2" descr="https://gimg2.baidu.com/image_search/src=http%3A%2F%2Finews.gtimg.com%2Fnewsapp_match%2F0%2F5807861945%2F0.jpg&amp;refer=http%3A%2F%2Finews.gtimg.com&amp;app=2002&amp;size=f9999,10000&amp;q=a80&amp;n=0&amp;g=0n&amp;fmt=jpeg?sec=1637753230&amp;t=a4113d5f6caf9ba3b0c75a2928afb250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5328"/>
            <a:stretch>
              <a:fillRect/>
            </a:stretch>
          </p:blipFill>
          <p:spPr bwMode="auto">
            <a:xfrm>
              <a:off x="0" y="0"/>
              <a:ext cx="9151622" cy="8120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矩形 5"/>
            <p:cNvSpPr/>
            <p:nvPr/>
          </p:nvSpPr>
          <p:spPr>
            <a:xfrm>
              <a:off x="0" y="0"/>
              <a:ext cx="9151622" cy="812067"/>
            </a:xfrm>
            <a:prstGeom prst="rect">
              <a:avLst/>
            </a:prstGeom>
            <a:solidFill>
              <a:srgbClr val="003296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064107" y="6470504"/>
            <a:ext cx="28448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208E000-400B-49E5-A4B3-B6F0CB0FC0D6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791936"/>
            <a:ext cx="12192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 userDrawn="1"/>
        </p:nvSpPr>
        <p:spPr>
          <a:xfrm flipH="1">
            <a:off x="0" y="6465103"/>
            <a:ext cx="12192000" cy="10800"/>
          </a:xfrm>
          <a:prstGeom prst="rect">
            <a:avLst/>
          </a:prstGeom>
          <a:gradFill flip="none" rotWithShape="1">
            <a:gsLst>
              <a:gs pos="0">
                <a:srgbClr val="002060">
                  <a:alpha val="10000"/>
                </a:srgbClr>
              </a:gs>
              <a:gs pos="50000">
                <a:srgbClr val="002060"/>
              </a:gs>
              <a:gs pos="100000">
                <a:srgbClr val="002060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矩形 10"/>
          <p:cNvSpPr/>
          <p:nvPr userDrawn="1"/>
        </p:nvSpPr>
        <p:spPr>
          <a:xfrm>
            <a:off x="239350" y="6506295"/>
            <a:ext cx="572644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嵌入式软件智能合成基础理论与方法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0207" y="149368"/>
            <a:ext cx="4493538" cy="523220"/>
          </a:xfrm>
        </p:spPr>
        <p:txBody>
          <a:bodyPr wrap="none">
            <a:spAutoFit/>
          </a:bodyPr>
          <a:lstStyle>
            <a:lvl1pPr algn="l">
              <a:defRPr lang="zh-CN" altLang="en-US" sz="2800" b="1">
                <a:ln w="18415" cmpd="sng">
                  <a:noFill/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lvl="0" algn="l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064107" y="6478817"/>
            <a:ext cx="28448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208E000-400B-49E5-A4B3-B6F0CB0FC0D6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791936"/>
            <a:ext cx="12192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064107" y="6470504"/>
            <a:ext cx="28448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208E000-400B-49E5-A4B3-B6F0CB0FC0D6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791936"/>
            <a:ext cx="12192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 userDrawn="1"/>
        </p:nvSpPr>
        <p:spPr>
          <a:xfrm flipH="1">
            <a:off x="0" y="6465103"/>
            <a:ext cx="12192000" cy="10800"/>
          </a:xfrm>
          <a:prstGeom prst="rect">
            <a:avLst/>
          </a:prstGeom>
          <a:gradFill flip="none" rotWithShape="1">
            <a:gsLst>
              <a:gs pos="0">
                <a:srgbClr val="002060">
                  <a:alpha val="10000"/>
                </a:srgbClr>
              </a:gs>
              <a:gs pos="50000">
                <a:srgbClr val="002060"/>
              </a:gs>
              <a:gs pos="100000">
                <a:srgbClr val="002060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矩形 10"/>
          <p:cNvSpPr/>
          <p:nvPr userDrawn="1"/>
        </p:nvSpPr>
        <p:spPr>
          <a:xfrm>
            <a:off x="239350" y="6506295"/>
            <a:ext cx="401515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可信软件设计开发与验证的基础理论研究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 txBox="1"/>
          <p:nvPr userDrawn="1"/>
        </p:nvSpPr>
        <p:spPr>
          <a:xfrm>
            <a:off x="9064107" y="647050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08E000-400B-49E5-A4B3-B6F0CB0FC0D6}" type="slidenum">
              <a:rPr lang="zh-CN" altLang="en-US" sz="1400" smtClean="0"/>
            </a:fld>
            <a:endParaRPr lang="zh-CN" altLang="en-US" sz="1400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791936"/>
            <a:ext cx="12192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C:\Users\705\Desktop\d1a20cf431adcbef4528754daeaf2edda3cc9f58.png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11088555" y="57324"/>
            <a:ext cx="820352" cy="61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9"/>
          <p:cNvSpPr/>
          <p:nvPr userDrawn="1"/>
        </p:nvSpPr>
        <p:spPr>
          <a:xfrm flipH="1">
            <a:off x="0" y="6465103"/>
            <a:ext cx="12192000" cy="10800"/>
          </a:xfrm>
          <a:prstGeom prst="rect">
            <a:avLst/>
          </a:prstGeom>
          <a:gradFill flip="none" rotWithShape="1">
            <a:gsLst>
              <a:gs pos="0">
                <a:srgbClr val="002060">
                  <a:alpha val="10000"/>
                </a:srgbClr>
              </a:gs>
              <a:gs pos="50000">
                <a:srgbClr val="002060"/>
              </a:gs>
              <a:gs pos="100000">
                <a:srgbClr val="002060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矩形 10"/>
          <p:cNvSpPr/>
          <p:nvPr userDrawn="1"/>
        </p:nvSpPr>
        <p:spPr>
          <a:xfrm>
            <a:off x="239350" y="6506295"/>
            <a:ext cx="401515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可信软件设计开发与验证的基础理论研究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9085" y="131287"/>
            <a:ext cx="4493538" cy="523220"/>
          </a:xfrm>
        </p:spPr>
        <p:txBody>
          <a:bodyPr wrap="none">
            <a:spAutoFit/>
          </a:bodyPr>
          <a:lstStyle>
            <a:lvl1pPr algn="l">
              <a:defRPr lang="zh-CN" altLang="en-US" sz="2800" b="1">
                <a:ln w="1905"/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lvl="0" algn="l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8E000-400B-49E5-A4B3-B6F0CB0FC0D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jpe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524000" y="6024175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 eaLnBrk="0" hangingPunct="0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400" b="1" dirty="0">
                <a:ln w="10541" cmpd="sng">
                  <a:noFill/>
                  <a:prstDash val="solid"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2026</a:t>
            </a:r>
            <a:r>
              <a:rPr lang="zh-CN" altLang="en-US" sz="2400" b="1" dirty="0">
                <a:ln w="10541" cmpd="sng">
                  <a:noFill/>
                  <a:prstDash val="solid"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n w="10541" cmpd="sng">
                  <a:noFill/>
                  <a:prstDash val="solid"/>
                </a:ln>
                <a:latin typeface="微软雅黑" panose="020B0503020204020204" pitchFamily="34" charset="-122"/>
                <a:ea typeface="微软雅黑" panose="020B0503020204020204" pitchFamily="34" charset="-122"/>
              </a:rPr>
              <a:t>年 </a:t>
            </a:r>
            <a:r>
              <a:rPr lang="en-US" altLang="zh-CN" sz="2400" b="1" dirty="0">
                <a:ln w="10541" cmpd="sng">
                  <a:noFill/>
                  <a:prstDash val="solid"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9</a:t>
            </a:r>
            <a:r>
              <a:rPr lang="zh-CN" altLang="en-US" sz="2400" b="1" dirty="0">
                <a:ln w="10541" cmpd="sng">
                  <a:noFill/>
                  <a:prstDash val="solid"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n w="10541" cmpd="sng">
                  <a:noFill/>
                  <a:prstDash val="solid"/>
                </a:ln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zh-CN" altLang="en-US" sz="2400" b="1" dirty="0">
                <a:ln w="10541" cmpd="sng">
                  <a:noFill/>
                  <a:prstDash val="solid"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n w="10541" cmpd="sng">
                  <a:noFill/>
                  <a:prstDash val="solid"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22</a:t>
            </a:r>
            <a:r>
              <a:rPr lang="zh-CN" altLang="en-US" sz="2400" b="1" dirty="0">
                <a:ln w="10541" cmpd="sng">
                  <a:noFill/>
                  <a:prstDash val="solid"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n w="10541" cmpd="sng">
                  <a:noFill/>
                  <a:prstDash val="solid"/>
                </a:ln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zh-CN" altLang="en-US" sz="2400" b="1" dirty="0">
              <a:ln w="10541" cmpd="sng">
                <a:noFill/>
                <a:prstDash val="solid"/>
              </a:ln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" y="3680231"/>
            <a:ext cx="12185230" cy="607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报告人：詹乃军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468" y="4500906"/>
            <a:ext cx="4059273" cy="5591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 descr="北京大学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8496" y="4505832"/>
            <a:ext cx="1960982" cy="549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3"/>
          <a:srcRect l="2855" t="7034" r="13175" b="11460"/>
          <a:stretch>
            <a:fillRect/>
          </a:stretch>
        </p:blipFill>
        <p:spPr>
          <a:xfrm>
            <a:off x="2988625" y="5250795"/>
            <a:ext cx="3764961" cy="784974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0" y="-5211"/>
            <a:ext cx="12192000" cy="3685441"/>
            <a:chOff x="0" y="2882"/>
            <a:chExt cx="9151622" cy="3291466"/>
          </a:xfrm>
        </p:grpSpPr>
        <p:pic>
          <p:nvPicPr>
            <p:cNvPr id="2050" name="Picture 2" descr="https://gimg2.baidu.com/image_search/src=http%3A%2F%2Finews.gtimg.com%2Fnewsapp_match%2F0%2F5807861945%2F0.jpg&amp;refer=http%3A%2F%2Finews.gtimg.com&amp;app=2002&amp;size=f9999,10000&amp;q=a80&amp;n=0&amp;g=0n&amp;fmt=jpeg?sec=1637753230&amp;t=a4113d5f6caf9ba3b0c75a2928afb250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882"/>
              <a:ext cx="9151622" cy="32914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矩形 14"/>
            <p:cNvSpPr/>
            <p:nvPr/>
          </p:nvSpPr>
          <p:spPr>
            <a:xfrm>
              <a:off x="2540" y="2883"/>
              <a:ext cx="9144000" cy="3288474"/>
            </a:xfrm>
            <a:prstGeom prst="rect">
              <a:avLst/>
            </a:prstGeom>
            <a:solidFill>
              <a:srgbClr val="003296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矩形 5"/>
          <p:cNvSpPr/>
          <p:nvPr/>
        </p:nvSpPr>
        <p:spPr>
          <a:xfrm>
            <a:off x="953289" y="1180048"/>
            <a:ext cx="10278654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 eaLnBrk="0" hangingPunct="0">
              <a:buClr>
                <a:schemeClr val="folHlink"/>
              </a:buClr>
              <a:buSzPct val="60000"/>
              <a:defRPr/>
            </a:pPr>
            <a:r>
              <a:rPr lang="zh-CN" altLang="en-US" sz="4400" b="1" dirty="0">
                <a:ln w="10541" cmpd="sng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课题二</a:t>
            </a:r>
            <a:endParaRPr lang="en-US" altLang="zh-CN" sz="4400" b="1" dirty="0">
              <a:ln w="10541" cmpd="sng">
                <a:noFill/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ctr" eaLnBrk="0" hangingPunct="0">
              <a:buClr>
                <a:schemeClr val="folHlink"/>
              </a:buClr>
              <a:buSzPct val="60000"/>
              <a:defRPr/>
            </a:pPr>
            <a:r>
              <a:rPr lang="zh-CN" altLang="en-US" sz="4400" b="1" dirty="0">
                <a:ln w="10541" cmpd="sng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面向嵌入式系统的软件</a:t>
            </a:r>
            <a:r>
              <a:rPr lang="en-US" altLang="zh-CN" sz="4400" b="1" dirty="0">
                <a:ln w="10541" cmpd="sng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4400" b="1" dirty="0">
                <a:ln w="10541" cmpd="sng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知识建模与构造</a:t>
            </a:r>
            <a:endParaRPr lang="en-US" altLang="zh-CN" sz="4400" b="1" dirty="0">
              <a:ln w="10541" cmpd="sng">
                <a:noFill/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 descr="卡通人物&#10;&#10;中度可信度描述已自动生成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3293" y="5333612"/>
            <a:ext cx="2538103" cy="5335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235103" y="2889942"/>
            <a:ext cx="57150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32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kumimoji="1" lang="zh-CN" altLang="en-US" sz="32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年第二季度工作总结汇报</a:t>
            </a:r>
            <a:endParaRPr kumimoji="1" lang="zh-CN" altLang="en-US" sz="32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4"/>
          <p:cNvSpPr/>
          <p:nvPr/>
        </p:nvSpPr>
        <p:spPr>
          <a:xfrm>
            <a:off x="1524000" y="393485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84200"/>
            <a:r>
              <a:rPr lang="zh-CN" altLang="zh-CN" sz="2800" b="1" kern="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sym typeface="Helvetica Light"/>
              </a:rPr>
              <a:t>国家自然科学基金重大项目</a:t>
            </a:r>
            <a:r>
              <a:rPr lang="zh-CN" altLang="en-US" sz="2800" b="1" kern="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sym typeface="Helvetica Light"/>
              </a:rPr>
              <a:t>工作总结汇报</a:t>
            </a:r>
            <a:endParaRPr lang="zh-CN" altLang="zh-CN" sz="2800" kern="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sym typeface="Helvetica Light"/>
            </a:endParaRPr>
          </a:p>
        </p:txBody>
      </p:sp>
      <p:pic>
        <p:nvPicPr>
          <p:cNvPr id="5" name="Picture 10" descr="gb_biaohui_xin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926621" y="397461"/>
            <a:ext cx="541176" cy="519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1" y="87814"/>
            <a:ext cx="12184364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zh-CN" altLang="en-US" sz="2800" b="1" kern="1200">
                <a:ln w="18415" cmpd="sng">
                  <a:noFill/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algn="ctr"/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年度总体</a:t>
            </a:r>
            <a:r>
              <a:rPr lang="zh-CN" altLang="en-US" sz="3600" dirty="0">
                <a:solidFill>
                  <a:schemeClr val="bg1"/>
                </a:solidFill>
              </a:rPr>
              <a:t>研究计划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3" name="灯片编号占位符 1"/>
          <p:cNvSpPr txBox="1"/>
          <p:nvPr/>
        </p:nvSpPr>
        <p:spPr>
          <a:xfrm>
            <a:off x="10050765" y="6495595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7208E000-400B-49E5-A4B3-B6F0CB0FC0D6}" type="slidenum">
              <a:rPr lang="zh-CN" altLang="en-US" sz="1400">
                <a:solidFill>
                  <a:srgbClr val="003798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fld>
            <a:endParaRPr lang="zh-CN" altLang="en-US" sz="1400" dirty="0">
              <a:solidFill>
                <a:srgbClr val="003798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AutoShape 33"/>
          <p:cNvSpPr>
            <a:spLocks noChangeArrowheads="1"/>
          </p:cNvSpPr>
          <p:nvPr/>
        </p:nvSpPr>
        <p:spPr bwMode="gray">
          <a:xfrm>
            <a:off x="2267711" y="1107456"/>
            <a:ext cx="9034353" cy="1018931"/>
          </a:xfrm>
          <a:prstGeom prst="roundRect">
            <a:avLst>
              <a:gd name="adj" fmla="val 1124"/>
            </a:avLst>
          </a:prstGeom>
          <a:solidFill>
            <a:schemeClr val="accent1">
              <a:lumMod val="20000"/>
              <a:lumOff val="80000"/>
              <a:alpha val="7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altLang="zh-CN" noProof="1">
              <a:solidFill>
                <a:schemeClr val="lt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67710" y="1203634"/>
            <a:ext cx="8497272" cy="82657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继续完善软件</a:t>
            </a:r>
            <a:r>
              <a:rPr kumimoji="1" lang="en-GB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自动构造技术，完成构建面向特定领域的软件</a:t>
            </a:r>
            <a:r>
              <a:rPr kumimoji="1" lang="en-GB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知识库</a:t>
            </a:r>
            <a:endParaRPr kumimoji="1"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完善相关理论和工具，与项目其他课题进行交互，共同完成项目验收</a:t>
            </a:r>
            <a:endParaRPr kumimoji="1"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 descr="手机屏幕的截图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934" y="2398745"/>
            <a:ext cx="10412131" cy="384644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889934" y="1107453"/>
            <a:ext cx="1377776" cy="10189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endParaRPr kumimoji="1"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5000"/>
              </a:lnSpc>
            </a:pP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研究计划</a:t>
            </a:r>
            <a:endParaRPr kumimoji="1"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1" y="87814"/>
            <a:ext cx="12184364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zh-CN" altLang="en-US" sz="2800" b="1" kern="1200">
                <a:ln w="18415" cmpd="sng">
                  <a:noFill/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algn="ctr"/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研究进展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：形式模型提取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3" name="灯片编号占位符 1"/>
          <p:cNvSpPr txBox="1"/>
          <p:nvPr/>
        </p:nvSpPr>
        <p:spPr>
          <a:xfrm>
            <a:off x="10050765" y="6495595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7208E000-400B-49E5-A4B3-B6F0CB0FC0D6}" type="slidenum">
              <a:rPr lang="zh-CN" altLang="en-US" sz="1400">
                <a:solidFill>
                  <a:srgbClr val="003798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fld>
            <a:endParaRPr lang="zh-CN" altLang="en-US" sz="1400" dirty="0">
              <a:solidFill>
                <a:srgbClr val="003798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9609" y="5572265"/>
            <a:ext cx="11105148" cy="646331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kumimoji="1" lang="en-GB" altLang="zh-CN" sz="1200" dirty="0" err="1">
                <a:latin typeface="Times New Roman" panose="02020603050405020304"/>
              </a:rPr>
              <a:t>Fanpeng</a:t>
            </a:r>
            <a:r>
              <a:rPr kumimoji="1" lang="en-GB" altLang="zh-CN" sz="1200" dirty="0">
                <a:latin typeface="Times New Roman" panose="02020603050405020304"/>
              </a:rPr>
              <a:t> Yang, Xu Ma, Shuling Wang*, et al.: </a:t>
            </a:r>
            <a:r>
              <a:rPr kumimoji="1" lang="en-GB" altLang="zh-CN" sz="1200" b="1" dirty="0">
                <a:latin typeface="Times New Roman" panose="02020603050405020304"/>
              </a:rPr>
              <a:t>Integrating Symbolic Execution with LLMs for Automated Generation of Program Specifications</a:t>
            </a:r>
            <a:r>
              <a:rPr kumimoji="1" lang="en-GB" altLang="zh-CN" sz="1200" dirty="0">
                <a:latin typeface="Times New Roman" panose="02020603050405020304"/>
              </a:rPr>
              <a:t>. </a:t>
            </a:r>
            <a:r>
              <a:rPr kumimoji="1" lang="en-GB" altLang="zh-CN" sz="1200" i="1" dirty="0">
                <a:latin typeface="Times New Roman" panose="02020603050405020304"/>
              </a:rPr>
              <a:t>IEEE Transactions on Software Engineering</a:t>
            </a:r>
            <a:r>
              <a:rPr kumimoji="1" lang="en-GB" altLang="zh-CN" sz="1200" dirty="0">
                <a:latin typeface="Times New Roman" panose="02020603050405020304"/>
              </a:rPr>
              <a:t>, 2026, Major Revision.</a:t>
            </a:r>
            <a:endParaRPr kumimoji="1" lang="zh-CN" altLang="en-US" dirty="0"/>
          </a:p>
        </p:txBody>
      </p:sp>
      <p:pic>
        <p:nvPicPr>
          <p:cNvPr id="102" name="Picture 101" descr="sespec_work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076325"/>
            <a:ext cx="4846320" cy="4037866"/>
          </a:xfrm>
          <a:prstGeom prst="rect">
            <a:avLst/>
          </a:prstGeom>
        </p:spPr>
      </p:pic>
      <p:sp>
        <p:nvSpPr>
          <p:cNvPr id="103" name="图注 104"/>
          <p:cNvSpPr txBox="1"/>
          <p:nvPr/>
        </p:nvSpPr>
        <p:spPr>
          <a:xfrm>
            <a:off x="6720840" y="5113655"/>
            <a:ext cx="4846320" cy="624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SESpec 总体流程：符号执行在程序边界处暂停，以符号信息引导 LLM 补全规约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1" name="文本框 302"/>
          <p:cNvSpPr txBox="1"/>
          <p:nvPr/>
        </p:nvSpPr>
        <p:spPr>
          <a:xfrm>
            <a:off x="502920" y="1143000"/>
            <a:ext cx="5806440" cy="457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kumimoji="1" lang="zh-CN" altLang="en-US" sz="16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要解决的问题：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海量存量 C 代码缺乏形式规约，人工编写成本高</a:t>
            </a:r>
            <a:endParaRPr kumimoji="1"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kumimoji="1" lang="zh-CN" altLang="en-US" sz="16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基本方法：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符号执行与 LLM 融合——在循环等边界处，用符号事实引导 LLM 合成规约</a:t>
            </a:r>
            <a:endParaRPr kumimoji="1"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kumimoji="1" lang="zh-CN" altLang="en-US" sz="16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验证器闭环：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候选规约由 Frama-C/WP 检查，失败时结合反馈定向修复</a:t>
            </a:r>
            <a:endParaRPr kumimoji="1"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kumimoji="1" lang="zh-CN" altLang="en-US" sz="16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评估结果：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多族基准上超过 AutoSpec；SESPEC-400（400 题）规约 Valid 率 68–93%</a:t>
            </a:r>
            <a:endParaRPr kumimoji="1"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1"/>
          <p:cNvSpPr txBox="1"/>
          <p:nvPr/>
        </p:nvSpPr>
        <p:spPr>
          <a:xfrm>
            <a:off x="1" y="87814"/>
            <a:ext cx="12184364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zh-CN" altLang="en-US" sz="2800" b="1" kern="1200">
                <a:ln w="18415" cmpd="sng">
                  <a:noFill/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algn="ctr"/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研究进展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：形式模型提取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3" name="灯片编号占位符 1"/>
          <p:cNvSpPr txBox="1"/>
          <p:nvPr/>
        </p:nvSpPr>
        <p:spPr>
          <a:xfrm>
            <a:off x="10050765" y="6495595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7208E000-400B-49E5-A4B3-B6F0CB0FC0D6}" type="slidenum">
              <a:rPr lang="zh-CN" altLang="en-US" sz="1400">
                <a:solidFill>
                  <a:srgbClr val="003798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fld>
            <a:endParaRPr lang="zh-CN" altLang="en-US" sz="1400" dirty="0">
              <a:solidFill>
                <a:srgbClr val="003798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5" name="矩形标签 106"/>
          <p:cNvSpPr/>
          <p:nvPr/>
        </p:nvSpPr>
        <p:spPr>
          <a:xfrm>
            <a:off x="502920" y="932688"/>
            <a:ext cx="8412480" cy="457200"/>
          </a:xfrm>
          <a:prstGeom prst="roundRect">
            <a:avLst/>
          </a:prstGeom>
          <a:solidFill>
            <a:srgbClr val="3C56E5">
              <a:alpha val="43000"/>
            </a:srgbClr>
          </a:solidFill>
          <a:ln w="25400">
            <a:solidFill>
              <a:srgbClr val="3C56E5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SESpec 工具落地：为知识库批量提取软件 IP 形式模型</a:t>
            </a:r>
            <a:endParaRPr kumimoji="1"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统计框 110"/>
          <p:cNvSpPr/>
          <p:nvPr/>
        </p:nvSpPr>
        <p:spPr>
          <a:xfrm>
            <a:off x="448056" y="4709160"/>
            <a:ext cx="2606040" cy="1188720"/>
          </a:xfrm>
          <a:prstGeom prst="roundRect">
            <a:avLst/>
          </a:prstGeom>
          <a:solidFill>
            <a:srgbClr val="3C56E5">
              <a:alpha val="43000"/>
            </a:srgbClr>
          </a:solidFill>
          <a:ln w="25400">
            <a:solidFill>
              <a:srgbClr val="3C56E5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en-US" altLang="zh-CN" sz="32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905</a:t>
            </a:r>
            <a:endParaRPr kumimoji="1" lang="zh-CN" altLang="en-US" sz="3200" b="1" dirty="0">
              <a:solidFill>
                <a:srgbClr val="003C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知识库软件 IP 形式模型（尚未严格验证）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统计框 112"/>
          <p:cNvSpPr/>
          <p:nvPr/>
        </p:nvSpPr>
        <p:spPr>
          <a:xfrm>
            <a:off x="3346704" y="4709160"/>
            <a:ext cx="2606040" cy="1188720"/>
          </a:xfrm>
          <a:prstGeom prst="roundRect">
            <a:avLst/>
          </a:prstGeom>
          <a:solidFill>
            <a:srgbClr val="3C56E5">
              <a:alpha val="43000"/>
            </a:srgbClr>
          </a:solidFill>
          <a:ln w="25400">
            <a:solidFill>
              <a:srgbClr val="3C56E5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en-US" altLang="zh-CN" sz="32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kumimoji="1" lang="zh-CN" altLang="en-US" sz="3200" b="1" dirty="0">
              <a:solidFill>
                <a:srgbClr val="003C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个程序完成 QCP 全链路验证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" name="统计框 114"/>
          <p:cNvSpPr/>
          <p:nvPr/>
        </p:nvSpPr>
        <p:spPr>
          <a:xfrm>
            <a:off x="6245352" y="4709160"/>
            <a:ext cx="2606040" cy="1188720"/>
          </a:xfrm>
          <a:prstGeom prst="roundRect">
            <a:avLst/>
          </a:prstGeom>
          <a:solidFill>
            <a:srgbClr val="3C56E5">
              <a:alpha val="43000"/>
            </a:srgbClr>
          </a:solidFill>
          <a:ln w="25400">
            <a:solidFill>
              <a:srgbClr val="3C56E5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zh-CN" altLang="en-US" sz="32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79</a:t>
            </a:r>
            <a:endParaRPr kumimoji="1" lang="zh-CN" altLang="en-US" sz="3200" b="1" dirty="0">
              <a:solidFill>
                <a:srgbClr val="003C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个程序完成位级规约测试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统计框 116"/>
          <p:cNvSpPr/>
          <p:nvPr/>
        </p:nvSpPr>
        <p:spPr>
          <a:xfrm>
            <a:off x="9144000" y="4709160"/>
            <a:ext cx="2606040" cy="1188720"/>
          </a:xfrm>
          <a:prstGeom prst="roundRect">
            <a:avLst/>
          </a:prstGeom>
          <a:solidFill>
            <a:srgbClr val="3C56E5">
              <a:alpha val="43000"/>
            </a:srgbClr>
          </a:solidFill>
          <a:ln w="25400">
            <a:solidFill>
              <a:srgbClr val="3C56E5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en-US" altLang="zh-CN" sz="32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86</a:t>
            </a:r>
            <a:endParaRPr kumimoji="1" lang="zh-CN" altLang="en-US" sz="3200" b="1" dirty="0">
              <a:solidFill>
                <a:srgbClr val="003C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个程序完成规约验证或测试（合计）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3" name="文本框 304"/>
          <p:cNvSpPr txBox="1"/>
          <p:nvPr/>
        </p:nvSpPr>
        <p:spPr>
          <a:xfrm>
            <a:off x="502920" y="1600200"/>
            <a:ext cx="11155680" cy="1138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kumimoji="1" lang="zh-CN" altLang="en-US" sz="16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批量提取：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SESpec 已应用于 502 工程项目（航天控制软件）等存量代码</a:t>
            </a:r>
            <a:endParaRPr kumimoji="1"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kumimoji="1" lang="zh-CN" altLang="en-US" sz="16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知识库规模：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累计为</a:t>
            </a:r>
            <a:r>
              <a:rPr kumimoji="1"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905 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个软件 IP 生成形式模型（前置/后置条件、循环不变式）</a:t>
            </a:r>
            <a:endParaRPr kumimoji="1"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规约现状：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 </a:t>
            </a:r>
            <a:r>
              <a:rPr kumimoji="1"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905 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个规约尚未通过严格的形式化验证</a:t>
            </a:r>
            <a:endParaRPr kumimoji="1"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kumimoji="1" lang="zh-CN" altLang="en-US" sz="16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后续工作：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重点 IP 开展 QCP 全链路验证；Rocq 浮点功能正确性支持不足，浮点密集 IP 转向规约测试（见进展 2）</a:t>
            </a:r>
            <a:endParaRPr kumimoji="1"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1"/>
          <p:cNvSpPr txBox="1"/>
          <p:nvPr/>
        </p:nvSpPr>
        <p:spPr>
          <a:xfrm>
            <a:off x="1" y="87814"/>
            <a:ext cx="12184364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zh-CN" altLang="en-US" sz="2800" b="1" kern="1200">
                <a:ln w="18415" cmpd="sng">
                  <a:noFill/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algn="ctr"/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研究进展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：形式模型提取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3" name="灯片编号占位符 1"/>
          <p:cNvSpPr txBox="1"/>
          <p:nvPr/>
        </p:nvSpPr>
        <p:spPr>
          <a:xfrm>
            <a:off x="10050765" y="6495595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7208E000-400B-49E5-A4B3-B6F0CB0FC0D6}" type="slidenum">
              <a:rPr lang="zh-CN" altLang="en-US" sz="1400">
                <a:solidFill>
                  <a:srgbClr val="003798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fld>
            <a:endParaRPr lang="zh-CN" altLang="en-US" sz="1400" dirty="0">
              <a:solidFill>
                <a:srgbClr val="003798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17" name="矩形标签 118"/>
          <p:cNvSpPr/>
          <p:nvPr/>
        </p:nvSpPr>
        <p:spPr>
          <a:xfrm>
            <a:off x="502920" y="932688"/>
            <a:ext cx="7863840" cy="457200"/>
          </a:xfrm>
          <a:prstGeom prst="roundRect">
            <a:avLst/>
          </a:prstGeom>
          <a:solidFill>
            <a:srgbClr val="3C56E5">
              <a:alpha val="43000"/>
            </a:srgbClr>
          </a:solidFill>
          <a:ln w="25400">
            <a:solidFill>
              <a:srgbClr val="3C56E5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QCP 全链路形式化验证：16 个程序完成证明</a:t>
            </a:r>
            <a:endParaRPr kumimoji="1"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流水线 120"/>
          <p:cNvSpPr/>
          <p:nvPr/>
        </p:nvSpPr>
        <p:spPr>
          <a:xfrm>
            <a:off x="320040" y="1691640"/>
            <a:ext cx="2084831" cy="777240"/>
          </a:xfrm>
          <a:prstGeom prst="roundRect">
            <a:avLst/>
          </a:prstGeom>
          <a:solidFill>
            <a:srgbClr val="3C56E5">
              <a:alpha val="43000"/>
            </a:srgbClr>
          </a:solidFill>
          <a:ln w="25400">
            <a:solidFill>
              <a:srgbClr val="3C56E5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规约标注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箭头 122"/>
          <p:cNvSpPr/>
          <p:nvPr/>
        </p:nvSpPr>
        <p:spPr>
          <a:xfrm>
            <a:off x="2423160" y="1929384"/>
            <a:ext cx="256032" cy="292608"/>
          </a:xfrm>
          <a:prstGeom prst="rightArrow">
            <a:avLst/>
          </a:prstGeom>
          <a:solidFill>
            <a:srgbClr val="07ACBD">
              <a:alpha val="43000"/>
            </a:srgbClr>
          </a:solidFill>
          <a:ln w="3175">
            <a:solidFill>
              <a:schemeClr val="tx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流水线 124"/>
          <p:cNvSpPr/>
          <p:nvPr/>
        </p:nvSpPr>
        <p:spPr>
          <a:xfrm>
            <a:off x="2697479" y="1691640"/>
            <a:ext cx="2084831" cy="777240"/>
          </a:xfrm>
          <a:prstGeom prst="roundRect">
            <a:avLst/>
          </a:prstGeom>
          <a:solidFill>
            <a:srgbClr val="3C56E5">
              <a:alpha val="43000"/>
            </a:srgbClr>
          </a:solidFill>
          <a:ln w="25400">
            <a:solidFill>
              <a:srgbClr val="3C56E5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符号执行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 VC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5" name="箭头 126"/>
          <p:cNvSpPr/>
          <p:nvPr/>
        </p:nvSpPr>
        <p:spPr>
          <a:xfrm>
            <a:off x="4800599" y="1929384"/>
            <a:ext cx="256032" cy="292608"/>
          </a:xfrm>
          <a:prstGeom prst="rightArrow">
            <a:avLst/>
          </a:prstGeom>
          <a:solidFill>
            <a:srgbClr val="07ACBD">
              <a:alpha val="43000"/>
            </a:srgbClr>
          </a:solidFill>
          <a:ln w="3175">
            <a:solidFill>
              <a:schemeClr val="tx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流水线 128"/>
          <p:cNvSpPr/>
          <p:nvPr/>
        </p:nvSpPr>
        <p:spPr>
          <a:xfrm>
            <a:off x="5074919" y="1691640"/>
            <a:ext cx="2084831" cy="777240"/>
          </a:xfrm>
          <a:prstGeom prst="roundRect">
            <a:avLst/>
          </a:prstGeom>
          <a:solidFill>
            <a:srgbClr val="3C56E5">
              <a:alpha val="43000"/>
            </a:srgbClr>
          </a:solidFill>
          <a:ln w="25400">
            <a:solidFill>
              <a:srgbClr val="3C56E5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VC 分类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safety / return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9" name="箭头 130"/>
          <p:cNvSpPr/>
          <p:nvPr/>
        </p:nvSpPr>
        <p:spPr>
          <a:xfrm>
            <a:off x="7178039" y="1929384"/>
            <a:ext cx="256032" cy="292608"/>
          </a:xfrm>
          <a:prstGeom prst="rightArrow">
            <a:avLst/>
          </a:prstGeom>
          <a:solidFill>
            <a:srgbClr val="07ACBD">
              <a:alpha val="43000"/>
            </a:srgbClr>
          </a:solidFill>
          <a:ln w="3175">
            <a:solidFill>
              <a:schemeClr val="tx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流水线 132"/>
          <p:cNvSpPr/>
          <p:nvPr/>
        </p:nvSpPr>
        <p:spPr>
          <a:xfrm>
            <a:off x="7452359" y="1691640"/>
            <a:ext cx="2084831" cy="777240"/>
          </a:xfrm>
          <a:prstGeom prst="roundRect">
            <a:avLst/>
          </a:prstGeom>
          <a:solidFill>
            <a:srgbClr val="3C56E5">
              <a:alpha val="43000"/>
            </a:srgbClr>
          </a:solidFill>
          <a:ln w="25400">
            <a:solidFill>
              <a:srgbClr val="3C56E5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Rocq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人工证明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" name="箭头 134"/>
          <p:cNvSpPr/>
          <p:nvPr/>
        </p:nvSpPr>
        <p:spPr>
          <a:xfrm>
            <a:off x="9555479" y="1929384"/>
            <a:ext cx="256032" cy="292608"/>
          </a:xfrm>
          <a:prstGeom prst="rightArrow">
            <a:avLst/>
          </a:prstGeom>
          <a:solidFill>
            <a:srgbClr val="07ACBD">
              <a:alpha val="43000"/>
            </a:srgbClr>
          </a:solidFill>
          <a:ln w="3175">
            <a:solidFill>
              <a:schemeClr val="tx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流水线 136"/>
          <p:cNvSpPr/>
          <p:nvPr/>
        </p:nvSpPr>
        <p:spPr>
          <a:xfrm>
            <a:off x="9829799" y="1691640"/>
            <a:ext cx="2084831" cy="777240"/>
          </a:xfrm>
          <a:prstGeom prst="roundRect">
            <a:avLst/>
          </a:prstGeom>
          <a:solidFill>
            <a:srgbClr val="3C56E5">
              <a:alpha val="43000"/>
            </a:srgbClr>
          </a:solidFill>
          <a:ln w="25400">
            <a:solidFill>
              <a:srgbClr val="3C56E5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final-check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归档验收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5" name="文本框 306"/>
          <p:cNvSpPr txBox="1"/>
          <p:nvPr/>
        </p:nvSpPr>
        <p:spPr>
          <a:xfrm>
            <a:off x="502920" y="297180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kumimoji="1" lang="zh-CN" altLang="en-US" sz="16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与规约测试互补：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Rocq 浮点功能正确性支持不足，浮点密集 IP 难以经济完成全称证明，转入 FloatTest 路线</a:t>
            </a:r>
            <a:endParaRPr kumimoji="1"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" name="统计框 308"/>
          <p:cNvSpPr/>
          <p:nvPr/>
        </p:nvSpPr>
        <p:spPr>
          <a:xfrm>
            <a:off x="502920" y="4709160"/>
            <a:ext cx="3657600" cy="1097280"/>
          </a:xfrm>
          <a:prstGeom prst="roundRect">
            <a:avLst/>
          </a:prstGeom>
          <a:solidFill>
            <a:srgbClr val="3C56E5">
              <a:alpha val="43000"/>
            </a:srgbClr>
          </a:solidFill>
          <a:ln w="25400">
            <a:solidFill>
              <a:srgbClr val="3C56E5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zh-CN" altLang="en-US" sz="28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约 1,400 行</a:t>
            </a:r>
            <a:endParaRPr kumimoji="1" lang="zh-CN" altLang="en-US" sz="2800" b="1" dirty="0">
              <a:solidFill>
                <a:srgbClr val="003C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规约代码（C annotation + case_lib）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9" name="统计框 310"/>
          <p:cNvSpPr/>
          <p:nvPr/>
        </p:nvSpPr>
        <p:spPr>
          <a:xfrm>
            <a:off x="4315968" y="4709160"/>
            <a:ext cx="3657600" cy="1097280"/>
          </a:xfrm>
          <a:prstGeom prst="roundRect">
            <a:avLst/>
          </a:prstGeom>
          <a:solidFill>
            <a:srgbClr val="3C56E5">
              <a:alpha val="43000"/>
            </a:srgbClr>
          </a:solidFill>
          <a:ln w="25400">
            <a:solidFill>
              <a:srgbClr val="3C56E5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zh-CN" altLang="en-US" sz="28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约 3,600 行</a:t>
            </a:r>
            <a:endParaRPr kumimoji="1" lang="zh-CN" altLang="en-US" sz="2800" b="1" dirty="0">
              <a:solidFill>
                <a:srgbClr val="003C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人工证明脚本（约 350 条引理）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1" name="统计框 312"/>
          <p:cNvSpPr/>
          <p:nvPr/>
        </p:nvSpPr>
        <p:spPr>
          <a:xfrm>
            <a:off x="8129016" y="4709160"/>
            <a:ext cx="3657600" cy="1097280"/>
          </a:xfrm>
          <a:prstGeom prst="roundRect">
            <a:avLst/>
          </a:prstGeom>
          <a:solidFill>
            <a:srgbClr val="3C56E5">
              <a:alpha val="43000"/>
            </a:srgbClr>
          </a:solidFill>
          <a:ln w="25400">
            <a:solidFill>
              <a:srgbClr val="3C56E5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zh-CN" altLang="en-US" sz="28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全称命题</a:t>
            </a:r>
            <a:endParaRPr kumimoji="1" lang="zh-CN" altLang="en-US" sz="2800" b="1" dirty="0">
              <a:solidFill>
                <a:srgbClr val="003C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结论由 Rocq 内核检查，零 Admitted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1"/>
          <p:cNvSpPr txBox="1"/>
          <p:nvPr/>
        </p:nvSpPr>
        <p:spPr>
          <a:xfrm>
            <a:off x="1" y="87814"/>
            <a:ext cx="12184364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zh-CN" altLang="en-US" sz="2800" b="1" kern="1200">
                <a:ln w="18415" cmpd="sng">
                  <a:noFill/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algn="ctr"/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研究进展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：形式模型提取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3" name="灯片编号占位符 1"/>
          <p:cNvSpPr txBox="1"/>
          <p:nvPr/>
        </p:nvSpPr>
        <p:spPr>
          <a:xfrm>
            <a:off x="10050765" y="6495595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7208E000-400B-49E5-A4B3-B6F0CB0FC0D6}" type="slidenum">
              <a:rPr lang="zh-CN" altLang="en-US" sz="1400">
                <a:solidFill>
                  <a:srgbClr val="003798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fld>
            <a:endParaRPr lang="zh-CN" altLang="en-US" sz="1400" dirty="0">
              <a:solidFill>
                <a:srgbClr val="003798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13" name="矩形标签 314"/>
          <p:cNvSpPr/>
          <p:nvPr/>
        </p:nvSpPr>
        <p:spPr>
          <a:xfrm>
            <a:off x="502920" y="932688"/>
            <a:ext cx="5394960" cy="457200"/>
          </a:xfrm>
          <a:prstGeom prst="roundRect">
            <a:avLst/>
          </a:prstGeom>
          <a:solidFill>
            <a:srgbClr val="3C56E5">
              <a:alpha val="43000"/>
            </a:srgbClr>
          </a:solidFill>
          <a:ln w="25400">
            <a:solidFill>
              <a:srgbClr val="3C56E5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代表验证案例（均来自航天控制软件 IP）</a:t>
            </a:r>
            <a:endParaRPr kumimoji="1"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5" name="文本框 316"/>
          <p:cNvSpPr txBox="1"/>
          <p:nvPr/>
        </p:nvSpPr>
        <p:spPr>
          <a:xfrm>
            <a:off x="502920" y="1554480"/>
            <a:ext cx="5532120" cy="457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kumimoji="1" lang="zh-CN" altLang="en-US" sz="16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STSUseFlag 状态机：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 条分支路径全证；predicate-first 规约（描述输入/输出数学关系）</a:t>
            </a:r>
            <a:endParaRPr kumimoji="1"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kumimoji="1" lang="zh-CN" altLang="en-US" sz="16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StructFilter：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结构滤波 + PID 控制，31 个 VC 全证</a:t>
            </a:r>
            <a:endParaRPr kumimoji="1"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kumimoji="1" lang="zh-CN" altLang="en-US" sz="16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STSTransDataSave：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SRAM 248 字节分段拷贝，annotation 迭代 5 轮</a:t>
            </a:r>
            <a:endParaRPr kumimoji="1"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kumimoji="1" lang="zh-CN" altLang="en-US" sz="16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WheelFriction：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浮点密集 IP，仅完成整数层部分验证</a:t>
            </a:r>
            <a:endParaRPr kumimoji="1"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7" name="矩形标签 318"/>
          <p:cNvSpPr/>
          <p:nvPr/>
        </p:nvSpPr>
        <p:spPr>
          <a:xfrm>
            <a:off x="6400800" y="932688"/>
            <a:ext cx="5257800" cy="457200"/>
          </a:xfrm>
          <a:prstGeom prst="roundRect">
            <a:avLst/>
          </a:prstGeom>
          <a:solidFill>
            <a:srgbClr val="3C56E5">
              <a:alpha val="43000"/>
            </a:srgbClr>
          </a:solidFill>
          <a:ln w="25400">
            <a:solidFill>
              <a:srgbClr val="3C56E5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浮点建模：最终处理方法</a:t>
            </a:r>
            <a:endParaRPr kumimoji="1"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9" name="演进框 320"/>
          <p:cNvSpPr/>
          <p:nvPr/>
        </p:nvSpPr>
        <p:spPr>
          <a:xfrm>
            <a:off x="6400800" y="1554480"/>
            <a:ext cx="5257800" cy="1371600"/>
          </a:xfrm>
          <a:prstGeom prst="roundRect">
            <a:avLst/>
          </a:prstGeom>
          <a:solidFill>
            <a:srgbClr val="3C56E5">
              <a:alpha val="43000"/>
            </a:srgbClr>
          </a:solidFill>
          <a:ln w="25400">
            <a:solidFill>
              <a:srgbClr val="3C56E5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zh-CN" altLang="en-US" sz="15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原生浮点建模：QCP 原生 fp32/fp64（Flocq）</a:t>
            </a:r>
            <a:endParaRPr kumimoji="1" lang="zh-CN" altLang="en-US" sz="1500" b="1" dirty="0">
              <a:solidFill>
                <a:srgbClr val="003C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浮点比较、NaN/±∞ 有限性、内存写入均可在证明层表达；超越函数与舍入推理支持不够，功能正确性证明受限</a:t>
            </a:r>
            <a:endParaRPr kumimoji="1" lang="zh-CN" altLang="en-US" sz="13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1" name="转向条 322"/>
          <p:cNvSpPr/>
          <p:nvPr/>
        </p:nvSpPr>
        <p:spPr>
          <a:xfrm>
            <a:off x="502920" y="5687568"/>
            <a:ext cx="11201400" cy="640080"/>
          </a:xfrm>
          <a:prstGeom prst="roundRect">
            <a:avLst/>
          </a:prstGeom>
          <a:solidFill>
            <a:srgbClr val="07ACBD">
              <a:alpha val="20000"/>
            </a:srgbClr>
          </a:solidFill>
          <a:ln w="25400">
            <a:solidFill>
              <a:srgbClr val="07ACBD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转向规约测试：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Rocq 对浮点数的功能正确性支持不够，浮点密集 IP 难以经济完成全称证明 → 转向基于 COINS 思想的位级规约测试（见研究进展 2）</a:t>
            </a:r>
            <a:endParaRPr kumimoji="1"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1" y="87814"/>
            <a:ext cx="12184364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zh-CN" altLang="en-US" sz="2800" b="1" kern="1200">
                <a:ln w="18415" cmpd="sng">
                  <a:noFill/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algn="ctr"/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研究进展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在代码的规约生成方面的能力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3" name="灯片编号占位符 1"/>
          <p:cNvSpPr txBox="1"/>
          <p:nvPr/>
        </p:nvSpPr>
        <p:spPr>
          <a:xfrm>
            <a:off x="10050765" y="6495595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7208E000-400B-49E5-A4B3-B6F0CB0FC0D6}" type="slidenum">
              <a:rPr lang="zh-CN" altLang="en-US" sz="1400">
                <a:solidFill>
                  <a:srgbClr val="003798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fld>
            <a:endParaRPr lang="zh-CN" altLang="en-US" sz="1400" dirty="0">
              <a:solidFill>
                <a:srgbClr val="003798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9609" y="5572265"/>
            <a:ext cx="11105148" cy="646331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kumimoji="1" lang="en-GB" altLang="zh-CN" sz="1200" dirty="0" err="1">
                <a:latin typeface="Times New Roman" panose="02020603050405020304"/>
              </a:rPr>
              <a:t>Fanpeng</a:t>
            </a:r>
            <a:r>
              <a:rPr kumimoji="1" lang="en-GB" altLang="zh-CN" sz="1200" dirty="0">
                <a:latin typeface="Times New Roman" panose="02020603050405020304"/>
              </a:rPr>
              <a:t> Yang, Xing Li, Shuling Wang, et al.: </a:t>
            </a:r>
            <a:r>
              <a:rPr kumimoji="1" lang="en-GB" altLang="zh-CN" sz="1200" b="1" dirty="0">
                <a:latin typeface="Times New Roman" panose="02020603050405020304"/>
              </a:rPr>
              <a:t>How Powerful are LLMs in Generating Formal Program Specifications? </a:t>
            </a:r>
            <a:r>
              <a:rPr kumimoji="1" lang="en-GB" altLang="zh-CN" sz="1200" i="1" dirty="0">
                <a:latin typeface="Times New Roman" panose="02020603050405020304"/>
              </a:rPr>
              <a:t>ICML 2026</a:t>
            </a:r>
            <a:r>
              <a:rPr kumimoji="1" lang="en-GB" altLang="zh-CN" sz="1200" dirty="0">
                <a:latin typeface="Times New Roman" panose="02020603050405020304"/>
              </a:rPr>
              <a:t>, in press</a:t>
            </a:r>
            <a:r>
              <a:rPr kumimoji="1" lang="en-GB" altLang="zh-CN" sz="1200" i="1" dirty="0">
                <a:latin typeface="Times New Roman" panose="02020603050405020304"/>
              </a:rPr>
              <a:t>.</a:t>
            </a:r>
            <a:endParaRPr kumimoji="1" lang="zh-CN" altLang="en-US" dirty="0"/>
          </a:p>
        </p:txBody>
      </p:sp>
      <p:pic>
        <p:nvPicPr>
          <p:cNvPr id="160" name="Picture 159" descr="coins_ma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188720"/>
            <a:ext cx="5623560" cy="3533470"/>
          </a:xfrm>
          <a:prstGeom prst="rect">
            <a:avLst/>
          </a:prstGeom>
        </p:spPr>
      </p:pic>
      <p:sp>
        <p:nvSpPr>
          <p:cNvPr id="161" name="图注 162"/>
          <p:cNvSpPr txBox="1"/>
          <p:nvPr/>
        </p:nvSpPr>
        <p:spPr>
          <a:xfrm>
            <a:off x="6172200" y="4777054"/>
            <a:ext cx="5623560" cy="457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COINS：准备阶段（HumanEval + 人工 Coq 规约）与评估阶段（逐级可证性检查）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3" name="文本框 324"/>
          <p:cNvSpPr txBox="1"/>
          <p:nvPr/>
        </p:nvSpPr>
        <p:spPr>
          <a:xfrm>
            <a:off x="502920" y="1143000"/>
            <a:ext cx="5440680" cy="457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kumimoji="1" lang="zh-CN" altLang="en-US" sz="16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要解决的问题：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如何度量 LLM 生成规约的质量？现有评估信号稀疏、难以解释</a:t>
            </a:r>
            <a:endParaRPr kumimoji="1"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kumimoji="1" lang="zh-CN" altLang="en-US" sz="16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COINS 框架：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 Coq，在实例化测试用例上评估规约的可证行为正确性，无需端到端等价证明</a:t>
            </a:r>
            <a:endParaRPr kumimoji="1"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kumimoji="1" lang="zh-CN" altLang="en-US" sz="16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关键发现：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语法正确性是当前模型的主要瓶颈；基于测试用例的形式化推理是更忠实、更有区分度的度量</a:t>
            </a:r>
            <a:endParaRPr kumimoji="1"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1"/>
          <p:cNvSpPr txBox="1"/>
          <p:nvPr/>
        </p:nvSpPr>
        <p:spPr>
          <a:xfrm>
            <a:off x="1" y="87814"/>
            <a:ext cx="12184364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zh-CN" altLang="en-US" sz="2800" b="1" kern="1200">
                <a:ln w="18415" cmpd="sng">
                  <a:noFill/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algn="ctr"/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研究进展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在代码的规约生成方面的能力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3" name="灯片编号占位符 1"/>
          <p:cNvSpPr txBox="1"/>
          <p:nvPr/>
        </p:nvSpPr>
        <p:spPr>
          <a:xfrm>
            <a:off x="10050765" y="6495595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7208E000-400B-49E5-A4B3-B6F0CB0FC0D6}" type="slidenum">
              <a:rPr lang="zh-CN" altLang="en-US" sz="1400">
                <a:solidFill>
                  <a:srgbClr val="003798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fld>
            <a:endParaRPr lang="zh-CN" altLang="en-US" sz="1400" dirty="0">
              <a:solidFill>
                <a:srgbClr val="003798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25" name="矩形标签 326"/>
          <p:cNvSpPr/>
          <p:nvPr/>
        </p:nvSpPr>
        <p:spPr>
          <a:xfrm>
            <a:off x="502920" y="932688"/>
            <a:ext cx="8138160" cy="457200"/>
          </a:xfrm>
          <a:prstGeom prst="roundRect">
            <a:avLst/>
          </a:prstGeom>
          <a:solidFill>
            <a:srgbClr val="3C56E5">
              <a:alpha val="43000"/>
            </a:srgbClr>
          </a:solidFill>
          <a:ln w="25400">
            <a:solidFill>
              <a:srgbClr val="3C56E5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FloatTest：基于 COINS 思想的规约位级差分测试</a:t>
            </a:r>
            <a:endParaRPr kumimoji="1"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7" name="文本框 328"/>
          <p:cNvSpPr txBox="1"/>
          <p:nvPr/>
        </p:nvSpPr>
        <p:spPr>
          <a:xfrm>
            <a:off x="502920" y="1481328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基本方法：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同一份输入，两边各算一遍，逐位比输出——原始 C 程序与人工翻译的 Rocq 规约</a:t>
            </a:r>
            <a:endParaRPr kumimoji="1"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9" name="步骤框 330"/>
          <p:cNvSpPr/>
          <p:nvPr/>
        </p:nvSpPr>
        <p:spPr>
          <a:xfrm>
            <a:off x="274320" y="1965960"/>
            <a:ext cx="2176272" cy="1463040"/>
          </a:xfrm>
          <a:prstGeom prst="roundRect">
            <a:avLst/>
          </a:prstGeom>
          <a:solidFill>
            <a:srgbClr val="3C56E5">
              <a:alpha val="43000"/>
            </a:srgbClr>
          </a:solidFill>
          <a:ln w="25400">
            <a:solidFill>
              <a:srgbClr val="3C56E5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zh-CN" altLang="en-US" sz="15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写规约 spec.v</a:t>
            </a:r>
            <a:endParaRPr kumimoji="1" lang="zh-CN" altLang="en-US" sz="1500" b="1" dirty="0">
              <a:solidFill>
                <a:srgbClr val="003C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2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人工将该题 C 代码逐行翻译成 Rocq 程序</a:t>
            </a:r>
            <a:endParaRPr kumimoji="1" lang="zh-CN" altLang="en-US" sz="12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1" name="箭头 332"/>
          <p:cNvSpPr/>
          <p:nvPr/>
        </p:nvSpPr>
        <p:spPr>
          <a:xfrm>
            <a:off x="2432303" y="2560320"/>
            <a:ext cx="237744" cy="274320"/>
          </a:xfrm>
          <a:prstGeom prst="rightArrow">
            <a:avLst/>
          </a:prstGeom>
          <a:solidFill>
            <a:srgbClr val="07ACBD">
              <a:alpha val="43000"/>
            </a:srgbClr>
          </a:solidFill>
          <a:ln w="3175">
            <a:solidFill>
              <a:schemeClr val="tx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步骤框 334"/>
          <p:cNvSpPr/>
          <p:nvPr/>
        </p:nvSpPr>
        <p:spPr>
          <a:xfrm>
            <a:off x="2651760" y="1965960"/>
            <a:ext cx="2176272" cy="1463040"/>
          </a:xfrm>
          <a:prstGeom prst="roundRect">
            <a:avLst/>
          </a:prstGeom>
          <a:solidFill>
            <a:srgbClr val="3C56E5">
              <a:alpha val="43000"/>
            </a:srgbClr>
          </a:solidFill>
          <a:ln w="25400">
            <a:solidFill>
              <a:srgbClr val="3C56E5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zh-CN" altLang="en-US" sz="15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写驱动程序</a:t>
            </a:r>
            <a:endParaRPr kumimoji="1" lang="zh-CN" altLang="en-US" sz="1500" b="1" dirty="0">
              <a:solidFill>
                <a:srgbClr val="003C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2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固定种子随机 + 定向边界值，逐个喂给 C 程序</a:t>
            </a:r>
            <a:endParaRPr kumimoji="1" lang="zh-CN" altLang="en-US" sz="12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5" name="箭头 336"/>
          <p:cNvSpPr/>
          <p:nvPr/>
        </p:nvSpPr>
        <p:spPr>
          <a:xfrm>
            <a:off x="4809744" y="2560320"/>
            <a:ext cx="237744" cy="274320"/>
          </a:xfrm>
          <a:prstGeom prst="rightArrow">
            <a:avLst/>
          </a:prstGeom>
          <a:solidFill>
            <a:srgbClr val="07ACBD">
              <a:alpha val="43000"/>
            </a:srgbClr>
          </a:solidFill>
          <a:ln w="3175">
            <a:solidFill>
              <a:schemeClr val="tx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步骤框 338"/>
          <p:cNvSpPr/>
          <p:nvPr/>
        </p:nvSpPr>
        <p:spPr>
          <a:xfrm>
            <a:off x="5029200" y="1965960"/>
            <a:ext cx="2176272" cy="1463040"/>
          </a:xfrm>
          <a:prstGeom prst="roundRect">
            <a:avLst/>
          </a:prstGeom>
          <a:solidFill>
            <a:srgbClr val="3C56E5">
              <a:alpha val="43000"/>
            </a:srgbClr>
          </a:solidFill>
          <a:ln w="25400">
            <a:solidFill>
              <a:srgbClr val="3C56E5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zh-CN" altLang="en-US" sz="15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浮点按整数打印</a:t>
            </a:r>
            <a:endParaRPr kumimoji="1" lang="zh-CN" altLang="en-US" sz="1500" b="1" dirty="0">
              <a:solidFill>
                <a:srgbClr val="003C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2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按内存 bit pattern 打印，浮点相等即整数相等</a:t>
            </a:r>
            <a:endParaRPr kumimoji="1" lang="zh-CN" altLang="en-US" sz="12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9" name="箭头 340"/>
          <p:cNvSpPr/>
          <p:nvPr/>
        </p:nvSpPr>
        <p:spPr>
          <a:xfrm>
            <a:off x="7187184" y="2560320"/>
            <a:ext cx="237744" cy="274320"/>
          </a:xfrm>
          <a:prstGeom prst="rightArrow">
            <a:avLst/>
          </a:prstGeom>
          <a:solidFill>
            <a:srgbClr val="07ACBD">
              <a:alpha val="43000"/>
            </a:srgbClr>
          </a:solidFill>
          <a:ln w="3175">
            <a:solidFill>
              <a:schemeClr val="tx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步骤框 342"/>
          <p:cNvSpPr/>
          <p:nvPr/>
        </p:nvSpPr>
        <p:spPr>
          <a:xfrm>
            <a:off x="7406640" y="1965960"/>
            <a:ext cx="2176272" cy="1463040"/>
          </a:xfrm>
          <a:prstGeom prst="roundRect">
            <a:avLst/>
          </a:prstGeom>
          <a:solidFill>
            <a:srgbClr val="3C56E5">
              <a:alpha val="43000"/>
            </a:srgbClr>
          </a:solidFill>
          <a:ln w="25400">
            <a:solidFill>
              <a:srgbClr val="3C56E5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zh-CN" altLang="en-US" sz="15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Rocq 逐条核对</a:t>
            </a:r>
            <a:endParaRPr kumimoji="1" lang="zh-CN" altLang="en-US" sz="1500" b="1" dirty="0">
              <a:solidFill>
                <a:srgbClr val="003C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2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每行向量一条定理，vm_compute 逐位比对</a:t>
            </a:r>
            <a:endParaRPr kumimoji="1" lang="zh-CN" altLang="en-US" sz="12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3" name="箭头 344"/>
          <p:cNvSpPr/>
          <p:nvPr/>
        </p:nvSpPr>
        <p:spPr>
          <a:xfrm>
            <a:off x="9564624" y="2560320"/>
            <a:ext cx="237744" cy="274320"/>
          </a:xfrm>
          <a:prstGeom prst="rightArrow">
            <a:avLst/>
          </a:prstGeom>
          <a:solidFill>
            <a:srgbClr val="07ACBD">
              <a:alpha val="43000"/>
            </a:srgbClr>
          </a:solidFill>
          <a:ln w="3175">
            <a:solidFill>
              <a:schemeClr val="tx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5" name="步骤框 346"/>
          <p:cNvSpPr/>
          <p:nvPr/>
        </p:nvSpPr>
        <p:spPr>
          <a:xfrm>
            <a:off x="9784080" y="1965960"/>
            <a:ext cx="2176272" cy="1463040"/>
          </a:xfrm>
          <a:prstGeom prst="roundRect">
            <a:avLst/>
          </a:prstGeom>
          <a:solidFill>
            <a:srgbClr val="3C56E5">
              <a:alpha val="43000"/>
            </a:srgbClr>
          </a:solidFill>
          <a:ln w="25400">
            <a:solidFill>
              <a:srgbClr val="3C56E5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zh-CN" altLang="en-US" sz="15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⑤ 阴性自检</a:t>
            </a:r>
            <a:endParaRPr kumimoji="1" lang="zh-CN" altLang="en-US" sz="1500" b="1" dirty="0">
              <a:solidFill>
                <a:srgbClr val="003C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2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故意改错一条期望值，确认编译报错</a:t>
            </a:r>
            <a:endParaRPr kumimoji="1" lang="zh-CN" altLang="en-US" sz="12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7" name="决策框 348"/>
          <p:cNvSpPr/>
          <p:nvPr/>
        </p:nvSpPr>
        <p:spPr>
          <a:xfrm>
            <a:off x="502920" y="3931920"/>
            <a:ext cx="3639312" cy="1371600"/>
          </a:xfrm>
          <a:prstGeom prst="roundRect">
            <a:avLst/>
          </a:prstGeom>
          <a:solidFill>
            <a:srgbClr val="3C56E5">
              <a:alpha val="43000"/>
            </a:srgbClr>
          </a:solidFill>
          <a:ln w="25400">
            <a:solidFill>
              <a:srgbClr val="3C56E5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zh-CN" altLang="en-US" sz="14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被测性质</a:t>
            </a:r>
            <a:endParaRPr kumimoji="1" lang="zh-CN" altLang="en-US" sz="1400" b="1" dirty="0">
              <a:solidFill>
                <a:srgbClr val="003C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输出 ≡ 规约输出（逐比特），1 ulp 差异即判失败</a:t>
            </a:r>
            <a:endParaRPr kumimoji="1" lang="zh-CN" altLang="en-US" sz="13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9" name="决策框 350"/>
          <p:cNvSpPr/>
          <p:nvPr/>
        </p:nvSpPr>
        <p:spPr>
          <a:xfrm>
            <a:off x="4283964" y="3931920"/>
            <a:ext cx="3639312" cy="1371600"/>
          </a:xfrm>
          <a:prstGeom prst="roundRect">
            <a:avLst/>
          </a:prstGeom>
          <a:solidFill>
            <a:srgbClr val="3C56E5">
              <a:alpha val="43000"/>
            </a:srgbClr>
          </a:solidFill>
          <a:ln w="25400">
            <a:solidFill>
              <a:srgbClr val="3C56E5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zh-CN" altLang="en-US" sz="14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内核检查</a:t>
            </a:r>
            <a:endParaRPr kumimoji="1" lang="zh-CN" altLang="en-US" sz="1400" b="1" dirty="0">
              <a:solidFill>
                <a:srgbClr val="003C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每条向量是一条 vm_compute 机器检查定理，而非程序运行截图</a:t>
            </a:r>
            <a:endParaRPr kumimoji="1" lang="zh-CN" altLang="en-US" sz="13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1" name="决策框 352"/>
          <p:cNvSpPr/>
          <p:nvPr/>
        </p:nvSpPr>
        <p:spPr>
          <a:xfrm>
            <a:off x="8065008" y="3931920"/>
            <a:ext cx="3639312" cy="1371600"/>
          </a:xfrm>
          <a:prstGeom prst="roundRect">
            <a:avLst/>
          </a:prstGeom>
          <a:solidFill>
            <a:srgbClr val="3C56E5">
              <a:alpha val="43000"/>
            </a:srgbClr>
          </a:solidFill>
          <a:ln w="25400">
            <a:solidFill>
              <a:srgbClr val="3C56E5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zh-CN" altLang="en-US" sz="14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阴性自检</a:t>
            </a:r>
            <a:endParaRPr kumimoji="1" lang="zh-CN" altLang="en-US" sz="1400" b="1" dirty="0">
              <a:solidFill>
                <a:srgbClr val="003C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每题故意改错 1 条期望值，确认编译报错（变异测试思想）</a:t>
            </a:r>
            <a:endParaRPr kumimoji="1" lang="zh-CN" altLang="en-US" sz="13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3" name="定位条 354"/>
          <p:cNvSpPr/>
          <p:nvPr/>
        </p:nvSpPr>
        <p:spPr>
          <a:xfrm>
            <a:off x="502920" y="5669280"/>
            <a:ext cx="11201400" cy="530352"/>
          </a:xfrm>
          <a:prstGeom prst="roundRect">
            <a:avLst/>
          </a:prstGeom>
          <a:solidFill>
            <a:srgbClr val="07ACBD">
              <a:alpha val="20000"/>
            </a:srgbClr>
          </a:solidFill>
          <a:ln w="25400">
            <a:solidFill>
              <a:srgbClr val="07ACBD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定位：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抽样检查而非全称证明——为浮点密集 IP 给出机器检查的一致性结论；规约可在后续证明中复用</a:t>
            </a:r>
            <a:endParaRPr kumimoji="1"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1"/>
          <p:cNvSpPr txBox="1"/>
          <p:nvPr/>
        </p:nvSpPr>
        <p:spPr>
          <a:xfrm>
            <a:off x="1" y="87814"/>
            <a:ext cx="12184364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zh-CN" altLang="en-US" sz="2800" b="1" kern="1200">
                <a:ln w="18415" cmpd="sng">
                  <a:noFill/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algn="ctr"/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研究进展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在代码的规约生成方面的能力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3" name="灯片编号占位符 1"/>
          <p:cNvSpPr txBox="1"/>
          <p:nvPr/>
        </p:nvSpPr>
        <p:spPr>
          <a:xfrm>
            <a:off x="10050765" y="6495595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7208E000-400B-49E5-A4B3-B6F0CB0FC0D6}" type="slidenum">
              <a:rPr lang="zh-CN" altLang="en-US" sz="1400">
                <a:solidFill>
                  <a:srgbClr val="003798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fld>
            <a:endParaRPr lang="zh-CN" altLang="en-US" sz="1400" dirty="0">
              <a:solidFill>
                <a:srgbClr val="003798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55" name="矩形标签 356"/>
          <p:cNvSpPr/>
          <p:nvPr/>
        </p:nvSpPr>
        <p:spPr>
          <a:xfrm>
            <a:off x="502920" y="932688"/>
            <a:ext cx="5532120" cy="457200"/>
          </a:xfrm>
          <a:prstGeom prst="roundRect">
            <a:avLst/>
          </a:prstGeom>
          <a:solidFill>
            <a:srgbClr val="3C56E5">
              <a:alpha val="43000"/>
            </a:srgbClr>
          </a:solidFill>
          <a:ln w="25400">
            <a:solidFill>
              <a:srgbClr val="3C56E5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三角函数单独处理</a:t>
            </a:r>
            <a:endParaRPr kumimoji="1"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7" name="文本框 358"/>
          <p:cNvSpPr txBox="1"/>
          <p:nvPr/>
        </p:nvSpPr>
        <p:spPr>
          <a:xfrm>
            <a:off x="502920" y="1481328"/>
            <a:ext cx="5532120" cy="457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zh-CN" altLang="en-US" sz="13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难点：</a:t>
            </a:r>
            <a:r>
              <a:rPr kumimoji="1" lang="zh-CN" altLang="en-US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Rocq 浮点库不支持 sin/cos；跨数学库结果可差最后 1 位</a:t>
            </a:r>
            <a:endParaRPr kumimoji="1" lang="zh-CN" altLang="en-US" sz="13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9" name="移植顶框 360"/>
          <p:cNvSpPr/>
          <p:nvPr/>
        </p:nvSpPr>
        <p:spPr>
          <a:xfrm>
            <a:off x="1417320" y="1920240"/>
            <a:ext cx="3657600" cy="502920"/>
          </a:xfrm>
          <a:prstGeom prst="roundRect">
            <a:avLst/>
          </a:prstGeom>
          <a:solidFill>
            <a:srgbClr val="3C56E5">
              <a:alpha val="43000"/>
            </a:srgbClr>
          </a:solidFill>
          <a:ln w="25400">
            <a:solidFill>
              <a:srgbClr val="3C56E5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zh-CN" altLang="en-US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musl 开源数学库算法（sin/cos/sqrt）</a:t>
            </a:r>
            <a:endParaRPr kumimoji="1" lang="zh-CN" altLang="en-US" sz="13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1" name="箭头 362"/>
          <p:cNvSpPr/>
          <p:nvPr/>
        </p:nvSpPr>
        <p:spPr>
          <a:xfrm>
            <a:off x="2148840" y="2459736"/>
            <a:ext cx="256032" cy="237744"/>
          </a:xfrm>
          <a:prstGeom prst="downArrow">
            <a:avLst/>
          </a:prstGeom>
          <a:solidFill>
            <a:srgbClr val="07ACBD">
              <a:alpha val="43000"/>
            </a:srgbClr>
          </a:solidFill>
          <a:ln w="3175">
            <a:solidFill>
              <a:schemeClr val="tx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箭头 364"/>
          <p:cNvSpPr/>
          <p:nvPr/>
        </p:nvSpPr>
        <p:spPr>
          <a:xfrm>
            <a:off x="4069080" y="2459736"/>
            <a:ext cx="256032" cy="237744"/>
          </a:xfrm>
          <a:prstGeom prst="downArrow">
            <a:avLst/>
          </a:prstGeom>
          <a:solidFill>
            <a:srgbClr val="07ACBD">
              <a:alpha val="43000"/>
            </a:srgbClr>
          </a:solidFill>
          <a:ln w="3175">
            <a:solidFill>
              <a:schemeClr val="tx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移植框 366"/>
          <p:cNvSpPr/>
          <p:nvPr/>
        </p:nvSpPr>
        <p:spPr>
          <a:xfrm>
            <a:off x="502920" y="2743200"/>
            <a:ext cx="2697480" cy="960120"/>
          </a:xfrm>
          <a:prstGeom prst="roundRect">
            <a:avLst/>
          </a:prstGeom>
          <a:solidFill>
            <a:srgbClr val="3C56E5">
              <a:alpha val="43000"/>
            </a:srgbClr>
          </a:solidFill>
          <a:ln w="25400">
            <a:solidFill>
              <a:srgbClr val="3C56E5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zh-CN" altLang="en-US" sz="14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 侧</a:t>
            </a:r>
            <a:endParaRPr kumimoji="1" lang="zh-CN" altLang="en-US" sz="1400" b="1" dirty="0">
              <a:solidFill>
                <a:srgbClr val="003C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2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编译链接时替换系统数学库，原始代码一行不改</a:t>
            </a:r>
            <a:endParaRPr kumimoji="1" lang="zh-CN" altLang="en-US" sz="12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7" name="移植框 368"/>
          <p:cNvSpPr/>
          <p:nvPr/>
        </p:nvSpPr>
        <p:spPr>
          <a:xfrm>
            <a:off x="3337560" y="2743200"/>
            <a:ext cx="2697480" cy="960120"/>
          </a:xfrm>
          <a:prstGeom prst="roundRect">
            <a:avLst/>
          </a:prstGeom>
          <a:solidFill>
            <a:srgbClr val="3C56E5">
              <a:alpha val="43000"/>
            </a:srgbClr>
          </a:solidFill>
          <a:ln w="25400">
            <a:solidFill>
              <a:srgbClr val="3C56E5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zh-CN" altLang="en-US" sz="14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Rocq 侧</a:t>
            </a:r>
            <a:endParaRPr kumimoji="1" lang="zh-CN" altLang="en-US" sz="1400" b="1" dirty="0">
              <a:solidFill>
                <a:srgbClr val="003C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2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按同一算法、同样运算顺序、同样常数重写</a:t>
            </a:r>
            <a:endParaRPr kumimoji="1" lang="zh-CN" altLang="en-US" sz="12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9" name="箭头 370"/>
          <p:cNvSpPr/>
          <p:nvPr/>
        </p:nvSpPr>
        <p:spPr>
          <a:xfrm>
            <a:off x="1819656" y="3739896"/>
            <a:ext cx="256032" cy="219456"/>
          </a:xfrm>
          <a:prstGeom prst="downArrow">
            <a:avLst/>
          </a:prstGeom>
          <a:solidFill>
            <a:srgbClr val="07ACBD">
              <a:alpha val="43000"/>
            </a:srgbClr>
          </a:solidFill>
          <a:ln w="3175">
            <a:solidFill>
              <a:schemeClr val="tx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箭头 372"/>
          <p:cNvSpPr/>
          <p:nvPr/>
        </p:nvSpPr>
        <p:spPr>
          <a:xfrm>
            <a:off x="4654296" y="3739896"/>
            <a:ext cx="256032" cy="219456"/>
          </a:xfrm>
          <a:prstGeom prst="downArrow">
            <a:avLst/>
          </a:prstGeom>
          <a:solidFill>
            <a:srgbClr val="07ACBD">
              <a:alpha val="43000"/>
            </a:srgbClr>
          </a:solidFill>
          <a:ln w="3175">
            <a:solidFill>
              <a:schemeClr val="tx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移植底框 374"/>
          <p:cNvSpPr/>
          <p:nvPr/>
        </p:nvSpPr>
        <p:spPr>
          <a:xfrm>
            <a:off x="1417320" y="4023360"/>
            <a:ext cx="3657600" cy="502920"/>
          </a:xfrm>
          <a:prstGeom prst="roundRect">
            <a:avLst/>
          </a:prstGeom>
          <a:solidFill>
            <a:srgbClr val="07ACBD">
              <a:alpha val="30000"/>
            </a:srgbClr>
          </a:solidFill>
          <a:ln w="25400">
            <a:solidFill>
              <a:srgbClr val="07ACBD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zh-CN" altLang="en-US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两侧算同一个算法，逐位比较才有意义</a:t>
            </a:r>
            <a:endParaRPr kumimoji="1" lang="zh-CN" altLang="en-US" sz="13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5" name="文本框 376"/>
          <p:cNvSpPr txBox="1"/>
          <p:nvPr/>
        </p:nvSpPr>
        <p:spPr>
          <a:xfrm>
            <a:off x="502920" y="4754880"/>
            <a:ext cx="5532120" cy="457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kumimoji="1" lang="zh-CN" altLang="en-US" sz="13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自测：</a:t>
            </a:r>
            <a:r>
              <a:rPr kumimoji="1" lang="zh-CN" altLang="en-US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sin/cos 3176 条 + sqrt 2073 条向量逐位一致；实证系统库 sqrt 存在 1-ulp 误舍入</a:t>
            </a:r>
            <a:endParaRPr kumimoji="1" lang="zh-CN" altLang="en-US" sz="13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7" name="矩形标签 378"/>
          <p:cNvSpPr/>
          <p:nvPr/>
        </p:nvSpPr>
        <p:spPr>
          <a:xfrm>
            <a:off x="6400800" y="932688"/>
            <a:ext cx="5257800" cy="457200"/>
          </a:xfrm>
          <a:prstGeom prst="roundRect">
            <a:avLst/>
          </a:prstGeom>
          <a:solidFill>
            <a:srgbClr val="3C56E5">
              <a:alpha val="43000"/>
            </a:srgbClr>
          </a:solidFill>
          <a:ln w="25400">
            <a:solidFill>
              <a:srgbClr val="3C56E5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覆盖规模与结果</a:t>
            </a:r>
            <a:endParaRPr kumimoji="1"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9" name="统计框 380"/>
          <p:cNvSpPr/>
          <p:nvPr/>
        </p:nvSpPr>
        <p:spPr>
          <a:xfrm>
            <a:off x="6400800" y="1554480"/>
            <a:ext cx="2578608" cy="1170432"/>
          </a:xfrm>
          <a:prstGeom prst="roundRect">
            <a:avLst/>
          </a:prstGeom>
          <a:solidFill>
            <a:srgbClr val="3C56E5">
              <a:alpha val="43000"/>
            </a:srgbClr>
          </a:solidFill>
          <a:ln w="25400">
            <a:solidFill>
              <a:srgbClr val="3C56E5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zh-CN" altLang="en-US" sz="32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79</a:t>
            </a:r>
            <a:endParaRPr kumimoji="1" lang="zh-CN" altLang="en-US" sz="3200" b="1" dirty="0">
              <a:solidFill>
                <a:srgbClr val="003C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个程序完成位级规约测试</a:t>
            </a:r>
            <a:endParaRPr kumimoji="1" lang="zh-CN" altLang="en-US" sz="13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1" name="统计框 382"/>
          <p:cNvSpPr/>
          <p:nvPr/>
        </p:nvSpPr>
        <p:spPr>
          <a:xfrm>
            <a:off x="9079992" y="1554480"/>
            <a:ext cx="2578608" cy="1170432"/>
          </a:xfrm>
          <a:prstGeom prst="roundRect">
            <a:avLst/>
          </a:prstGeom>
          <a:solidFill>
            <a:srgbClr val="3C56E5">
              <a:alpha val="43000"/>
            </a:srgbClr>
          </a:solidFill>
          <a:ln w="25400">
            <a:solidFill>
              <a:srgbClr val="3C56E5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zh-CN" altLang="en-US" sz="32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78,700+</a:t>
            </a:r>
            <a:endParaRPr kumimoji="1" lang="zh-CN" altLang="en-US" sz="3200" b="1" dirty="0">
              <a:solidFill>
                <a:srgbClr val="003C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条机器检查定理，100% 通过</a:t>
            </a:r>
            <a:endParaRPr kumimoji="1" lang="zh-CN" altLang="en-US" sz="13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3" name="统计框 384"/>
          <p:cNvSpPr/>
          <p:nvPr/>
        </p:nvSpPr>
        <p:spPr>
          <a:xfrm>
            <a:off x="6400800" y="2816352"/>
            <a:ext cx="2578608" cy="1170432"/>
          </a:xfrm>
          <a:prstGeom prst="roundRect">
            <a:avLst/>
          </a:prstGeom>
          <a:solidFill>
            <a:srgbClr val="3C56E5">
              <a:alpha val="43000"/>
            </a:srgbClr>
          </a:solidFill>
          <a:ln w="25400">
            <a:solidFill>
              <a:srgbClr val="3C56E5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zh-CN" altLang="en-US" sz="32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4,700+</a:t>
            </a:r>
            <a:endParaRPr kumimoji="1" lang="zh-CN" altLang="en-US" sz="3200" b="1" dirty="0">
              <a:solidFill>
                <a:srgbClr val="003C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行人工规约代码（spec.v + 共享层）</a:t>
            </a:r>
            <a:endParaRPr kumimoji="1" lang="zh-CN" altLang="en-US" sz="13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5" name="统计框 386"/>
          <p:cNvSpPr/>
          <p:nvPr/>
        </p:nvSpPr>
        <p:spPr>
          <a:xfrm>
            <a:off x="9079992" y="2816352"/>
            <a:ext cx="2578608" cy="1170432"/>
          </a:xfrm>
          <a:prstGeom prst="roundRect">
            <a:avLst/>
          </a:prstGeom>
          <a:solidFill>
            <a:srgbClr val="3C56E5">
              <a:alpha val="43000"/>
            </a:srgbClr>
          </a:solidFill>
          <a:ln w="25400">
            <a:solidFill>
              <a:srgbClr val="3C56E5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zh-CN" altLang="en-US" sz="32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47.9 万行</a:t>
            </a:r>
            <a:endParaRPr kumimoji="1" lang="zh-CN" altLang="en-US" sz="3200" b="1" dirty="0">
              <a:solidFill>
                <a:srgbClr val="003C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定理代码 tests.v，零 Admitted/Axiom</a:t>
            </a:r>
            <a:endParaRPr kumimoji="1" lang="zh-CN" altLang="en-US" sz="13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7" name="文本框 388"/>
          <p:cNvSpPr txBox="1"/>
          <p:nvPr/>
        </p:nvSpPr>
        <p:spPr>
          <a:xfrm>
            <a:off x="6400800" y="4297680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kumimoji="1" lang="zh-CN" altLang="en-US" sz="13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实际抓出的问题：</a:t>
            </a:r>
            <a:r>
              <a:rPr kumimoji="1" lang="zh-CN" altLang="en-US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宿主 libm sqrt 1-ulp 误舍入、共享层 6 处符号/下标错误、驱动程序 UB 等</a:t>
            </a:r>
            <a:endParaRPr kumimoji="1" lang="zh-CN" altLang="en-US" sz="13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" name="合计条 390"/>
          <p:cNvSpPr/>
          <p:nvPr/>
        </p:nvSpPr>
        <p:spPr>
          <a:xfrm>
            <a:off x="502920" y="5577840"/>
            <a:ext cx="11201400" cy="530352"/>
          </a:xfrm>
          <a:prstGeom prst="roundRect">
            <a:avLst/>
          </a:prstGeom>
          <a:solidFill>
            <a:srgbClr val="07ACBD">
              <a:alpha val="20000"/>
            </a:srgbClr>
          </a:solidFill>
          <a:ln w="25400">
            <a:solidFill>
              <a:srgbClr val="07ACBD"/>
            </a:solidFill>
          </a:ln>
        </p:spPr>
        <p:txBody>
          <a:bodyPr wrap="square" lIns="45720" tIns="27432" rIns="45720" bIns="27432" rtlCol="0" anchor="ctr"/>
          <a:lstStyle/>
          <a:p>
            <a:pPr algn="ctr"/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两条路线合计：</a:t>
            </a:r>
            <a:r>
              <a:rPr kumimoji="1"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86</a:t>
            </a:r>
            <a:r>
              <a:rPr kumimoji="1"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个程序完成规约验证或测试，累计规约代码约 6,100 行、证明与定理代码约 48.2 万行</a:t>
            </a:r>
            <a:endParaRPr kumimoji="1"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AutoShape 33"/>
          <p:cNvSpPr>
            <a:spLocks noChangeArrowheads="1"/>
          </p:cNvSpPr>
          <p:nvPr/>
        </p:nvSpPr>
        <p:spPr bwMode="gray">
          <a:xfrm>
            <a:off x="774032" y="1360850"/>
            <a:ext cx="10571743" cy="933979"/>
          </a:xfrm>
          <a:prstGeom prst="roundRect">
            <a:avLst>
              <a:gd name="adj" fmla="val 1124"/>
            </a:avLst>
          </a:prstGeom>
          <a:solidFill>
            <a:schemeClr val="accent1">
              <a:lumMod val="20000"/>
              <a:lumOff val="80000"/>
              <a:alpha val="7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altLang="zh-CN" noProof="1">
              <a:solidFill>
                <a:schemeClr val="lt1"/>
              </a:solidFill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" y="87814"/>
            <a:ext cx="12184364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zh-CN" altLang="en-US" sz="2800" b="1" kern="1200">
                <a:ln w="18415" cmpd="sng">
                  <a:noFill/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algn="ctr"/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研究进展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：知识模型提取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3" name="灯片编号占位符 1"/>
          <p:cNvSpPr txBox="1"/>
          <p:nvPr/>
        </p:nvSpPr>
        <p:spPr>
          <a:xfrm>
            <a:off x="10050765" y="6495595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7208E000-400B-49E5-A4B3-B6F0CB0FC0D6}" type="slidenum">
              <a:rPr lang="zh-CN" altLang="en-US" sz="1400">
                <a:solidFill>
                  <a:srgbClr val="003798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fld>
            <a:endParaRPr lang="zh-CN" altLang="en-US" sz="1400" dirty="0">
              <a:solidFill>
                <a:srgbClr val="003798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8095" y="2381221"/>
            <a:ext cx="6809873" cy="344343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74032" y="2465445"/>
            <a:ext cx="3193503" cy="2218621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形参</a:t>
            </a:r>
            <a:r>
              <a:rPr kumimoji="1"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名称、类型、含义</a:t>
            </a:r>
            <a:r>
              <a:rPr kumimoji="1"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kumimoji="1"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返回值 </a:t>
            </a:r>
            <a:r>
              <a:rPr kumimoji="1"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名称、类型、含义</a:t>
            </a:r>
            <a:r>
              <a:rPr kumimoji="1"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kumimoji="1"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全局变量 </a:t>
            </a:r>
            <a:r>
              <a:rPr kumimoji="1"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名称、类型、含义</a:t>
            </a:r>
            <a:r>
              <a:rPr kumimoji="1"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kumimoji="1"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函数功能的自然语言描述</a:t>
            </a:r>
            <a:endParaRPr kumimoji="1"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函数的控制流图与数据流图</a:t>
            </a:r>
            <a:endParaRPr kumimoji="1"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kumimoji="1"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Callees 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</a:t>
            </a:r>
            <a:endParaRPr kumimoji="1"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kumimoji="1"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Callers 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</a:t>
            </a:r>
            <a:endParaRPr kumimoji="1"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998" y="5947943"/>
            <a:ext cx="669569" cy="659074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20226" y="6108203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软件项目仓库</a:t>
            </a:r>
            <a:endParaRPr kumimoji="1"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上箭头 12"/>
          <p:cNvSpPr/>
          <p:nvPr/>
        </p:nvSpPr>
        <p:spPr>
          <a:xfrm>
            <a:off x="2130919" y="5613418"/>
            <a:ext cx="479725" cy="254034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7" name="图形 16" descr="Web 设计 纯色填充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57482" y="5138692"/>
            <a:ext cx="426598" cy="426598"/>
          </a:xfrm>
          <a:prstGeom prst="rect">
            <a:avLst/>
          </a:prstGeom>
        </p:spPr>
      </p:pic>
      <p:pic>
        <p:nvPicPr>
          <p:cNvPr id="18" name="图形 17" descr="Web 设计 纯色填充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4304" y="5138692"/>
            <a:ext cx="426598" cy="426598"/>
          </a:xfrm>
          <a:prstGeom prst="rect">
            <a:avLst/>
          </a:prstGeom>
        </p:spPr>
      </p:pic>
      <p:pic>
        <p:nvPicPr>
          <p:cNvPr id="19" name="图形 18" descr="Web 设计 纯色填充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10660" y="5135393"/>
            <a:ext cx="426598" cy="426598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620226" y="5179415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kumimoji="1"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左大括号 21"/>
          <p:cNvSpPr/>
          <p:nvPr/>
        </p:nvSpPr>
        <p:spPr>
          <a:xfrm>
            <a:off x="3301739" y="5084669"/>
            <a:ext cx="146097" cy="528046"/>
          </a:xfrm>
          <a:prstGeom prst="leftBrace">
            <a:avLst>
              <a:gd name="adj1" fmla="val 35287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3378284" y="507326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.h</a:t>
            </a:r>
            <a:r>
              <a:rPr kumimoji="1" lang="zh-CN" altLang="en-US" sz="1400" dirty="0"/>
              <a:t> 头文件</a:t>
            </a:r>
            <a:endParaRPr kumimoji="1" lang="en-US" altLang="zh-CN" sz="1400" dirty="0"/>
          </a:p>
          <a:p>
            <a:r>
              <a:rPr kumimoji="1" lang="en-US" altLang="zh-CN" sz="1400" dirty="0"/>
              <a:t>.c</a:t>
            </a:r>
            <a:r>
              <a:rPr kumimoji="1" lang="zh-CN" altLang="en-US" sz="1400" dirty="0"/>
              <a:t> 源代码</a:t>
            </a:r>
            <a:endParaRPr kumimoji="1" lang="zh-CN" altLang="en-US" sz="1400" dirty="0"/>
          </a:p>
        </p:txBody>
      </p:sp>
      <p:sp>
        <p:nvSpPr>
          <p:cNvPr id="24" name="上箭头 23"/>
          <p:cNvSpPr/>
          <p:nvPr/>
        </p:nvSpPr>
        <p:spPr>
          <a:xfrm>
            <a:off x="2130918" y="4797135"/>
            <a:ext cx="479725" cy="254034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3229547" y="5969914"/>
            <a:ext cx="8116229" cy="646331"/>
          </a:xfrm>
          <a:prstGeom prst="rect">
            <a:avLst/>
          </a:prstGeom>
          <a:noFill/>
          <a:ln w="1270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进展：</a:t>
            </a:r>
            <a:r>
              <a:rPr kumimoji="1" lang="zh-CN" altLang="en-US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kumimoji="1" lang="en-GB" altLang="zh-CN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GitHub</a:t>
            </a:r>
            <a:r>
              <a:rPr kumimoji="1" lang="zh-CN" altLang="en-US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上多个大规模开源软件项目（例如</a:t>
            </a:r>
            <a:r>
              <a:rPr kumimoji="1" lang="en-GB" altLang="zh-CN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kumimoji="1" lang="zh-CN" altLang="en-US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项目）测试通过</a:t>
            </a:r>
            <a:endParaRPr kumimoji="1" lang="en-US" altLang="zh-CN" b="1" dirty="0">
              <a:solidFill>
                <a:srgbClr val="003C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计划：</a:t>
            </a:r>
            <a:r>
              <a:rPr kumimoji="1" lang="zh-CN" altLang="en-US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在内网环境中部署并应用于航天控制软件项目（如太搜等）的场景中</a:t>
            </a:r>
            <a:endParaRPr kumimoji="1" lang="zh-CN" altLang="en-US" b="1" dirty="0">
              <a:solidFill>
                <a:srgbClr val="003C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74032" y="1360850"/>
            <a:ext cx="105717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解析代码结构：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kumimoji="1" lang="en-GB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Tree-sitter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解析器将源码转化为结构化的抽象语法树（</a:t>
            </a:r>
            <a:r>
              <a:rPr kumimoji="1" lang="en-GB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AST</a:t>
            </a:r>
            <a:r>
              <a:rPr kumimoji="1" lang="zh-CN" altLang="en-GB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1"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构建代码知识图谱：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解析语法单元（如函数）作为节点，它们之间的关系（如调用、继承）作为边</a:t>
            </a:r>
            <a:endParaRPr kumimoji="1"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合成视觉元素：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基于构建的知识图谱，通过</a:t>
            </a:r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Mermaid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PlantUML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等工具将分析结果渲染成图表</a:t>
            </a:r>
            <a:endParaRPr kumimoji="1"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74032" y="1035261"/>
            <a:ext cx="2455515" cy="3255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Code Wiki</a:t>
            </a:r>
            <a:endParaRPr kumimoji="1"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7577" y="3302553"/>
            <a:ext cx="532276" cy="534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1" y="87814"/>
            <a:ext cx="12184364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zh-CN" altLang="en-US" sz="2800" b="1" kern="1200">
                <a:ln w="18415" cmpd="sng">
                  <a:noFill/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algn="ctr"/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研究进展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MARS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2.0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工具链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3" name="灯片编号占位符 1"/>
          <p:cNvSpPr txBox="1"/>
          <p:nvPr/>
        </p:nvSpPr>
        <p:spPr>
          <a:xfrm>
            <a:off x="10050765" y="6495595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7208E000-400B-49E5-A4B3-B6F0CB0FC0D6}" type="slidenum">
              <a:rPr lang="zh-CN" altLang="en-US" sz="1400">
                <a:solidFill>
                  <a:srgbClr val="003798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fld>
            <a:endParaRPr lang="zh-CN" altLang="en-US" sz="1400" dirty="0">
              <a:solidFill>
                <a:srgbClr val="003798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193333" y="1029349"/>
            <a:ext cx="7309224" cy="574241"/>
          </a:xfrm>
          <a:prstGeom prst="roundRect">
            <a:avLst/>
          </a:prstGeom>
          <a:solidFill>
            <a:schemeClr val="bg1">
              <a:lumMod val="85000"/>
              <a:alpha val="43000"/>
            </a:schemeClr>
          </a:solidFill>
          <a:ln w="25400">
            <a:solidFill>
              <a:srgbClr val="0118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模型驱动设计</a:t>
            </a:r>
            <a:r>
              <a:rPr kumimoji="1" lang="zh-CN" altLang="en-US" sz="2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是解决安全攸关系统复杂性的</a:t>
            </a:r>
            <a:r>
              <a:rPr kumimoji="1"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重要途径</a:t>
            </a:r>
            <a:endParaRPr kumimoji="1" lang="zh-CN" altLang="en-US" sz="2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042151" y="1792479"/>
            <a:ext cx="5611582" cy="646332"/>
          </a:xfrm>
          <a:prstGeom prst="roundRect">
            <a:avLst/>
          </a:prstGeom>
          <a:solidFill>
            <a:srgbClr val="0432FF">
              <a:alpha val="43000"/>
            </a:srgbClr>
          </a:solidFill>
          <a:ln w="25400"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面向复杂信息物理融合系统的模型驱动设计理论</a:t>
            </a:r>
            <a:endParaRPr kumimoji="1"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193332" y="3166678"/>
            <a:ext cx="2215554" cy="646332"/>
          </a:xfrm>
          <a:prstGeom prst="roundRect">
            <a:avLst/>
          </a:prstGeom>
          <a:solidFill>
            <a:srgbClr val="3C56E5">
              <a:alpha val="43000"/>
            </a:srgbClr>
          </a:solidFill>
          <a:ln w="25400">
            <a:solidFill>
              <a:srgbClr val="3C56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复杂信息物理融合系统的</a:t>
            </a:r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建模和规约</a:t>
            </a:r>
            <a:endParaRPr kumimoji="1"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2740167" y="3166678"/>
            <a:ext cx="2215554" cy="646332"/>
          </a:xfrm>
          <a:prstGeom prst="roundRect">
            <a:avLst/>
          </a:prstGeom>
          <a:solidFill>
            <a:srgbClr val="3C56E5">
              <a:alpha val="43000"/>
            </a:srgbClr>
          </a:solidFill>
          <a:ln w="25400">
            <a:solidFill>
              <a:srgbClr val="3C56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复杂信息物理融合系统的</a:t>
            </a:r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分析和验证</a:t>
            </a:r>
            <a:endParaRPr kumimoji="1"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5287002" y="3166678"/>
            <a:ext cx="2215554" cy="646332"/>
          </a:xfrm>
          <a:prstGeom prst="roundRect">
            <a:avLst/>
          </a:prstGeom>
          <a:solidFill>
            <a:srgbClr val="3C56E5">
              <a:alpha val="43000"/>
            </a:srgbClr>
          </a:solidFill>
          <a:ln w="25400">
            <a:solidFill>
              <a:srgbClr val="3C56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复杂信息物理融合系统的</a:t>
            </a:r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代码生成</a:t>
            </a:r>
            <a:endParaRPr kumimoji="1"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193332" y="4521012"/>
            <a:ext cx="2215554" cy="646332"/>
          </a:xfrm>
          <a:prstGeom prst="roundRect">
            <a:avLst/>
          </a:prstGeom>
          <a:solidFill>
            <a:srgbClr val="00B0F0">
              <a:alpha val="43000"/>
            </a:srgbClr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计算、通信和控制相关的复杂行为</a:t>
            </a:r>
            <a:endParaRPr kumimoji="1"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2740167" y="4521012"/>
            <a:ext cx="2215554" cy="646332"/>
          </a:xfrm>
          <a:prstGeom prst="roundRect">
            <a:avLst/>
          </a:prstGeom>
          <a:solidFill>
            <a:srgbClr val="00B0F0">
              <a:alpha val="43000"/>
            </a:srgbClr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离散和连续行为深度交互相关的性质</a:t>
            </a:r>
            <a:endParaRPr kumimoji="1"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5287002" y="4521012"/>
            <a:ext cx="2215554" cy="646332"/>
          </a:xfrm>
          <a:prstGeom prst="roundRect">
            <a:avLst/>
          </a:prstGeom>
          <a:solidFill>
            <a:srgbClr val="00B0F0">
              <a:alpha val="43000"/>
            </a:srgbClr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代码生成的正确性</a:t>
            </a:r>
            <a:endParaRPr kumimoji="1"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1042151" y="5910586"/>
            <a:ext cx="5611582" cy="646332"/>
          </a:xfrm>
          <a:prstGeom prst="roundRect">
            <a:avLst/>
          </a:prstGeom>
          <a:solidFill>
            <a:srgbClr val="0070C0">
              <a:alpha val="43000"/>
            </a:srgbClr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模型驱动设计方法：从控制模型到源代码</a:t>
            </a:r>
            <a:endParaRPr kumimoji="1"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下箭头 24"/>
          <p:cNvSpPr/>
          <p:nvPr/>
        </p:nvSpPr>
        <p:spPr>
          <a:xfrm>
            <a:off x="3649640" y="2570238"/>
            <a:ext cx="396607" cy="473726"/>
          </a:xfrm>
          <a:prstGeom prst="downArrow">
            <a:avLst/>
          </a:prstGeom>
          <a:solidFill>
            <a:srgbClr val="07ACBD">
              <a:alpha val="43000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下箭头 25"/>
          <p:cNvSpPr/>
          <p:nvPr/>
        </p:nvSpPr>
        <p:spPr>
          <a:xfrm>
            <a:off x="3649640" y="3937091"/>
            <a:ext cx="396607" cy="473726"/>
          </a:xfrm>
          <a:prstGeom prst="downArrow">
            <a:avLst/>
          </a:prstGeom>
          <a:solidFill>
            <a:srgbClr val="07ACBD">
              <a:alpha val="43000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下箭头 30"/>
          <p:cNvSpPr/>
          <p:nvPr/>
        </p:nvSpPr>
        <p:spPr>
          <a:xfrm>
            <a:off x="3649639" y="5310992"/>
            <a:ext cx="396607" cy="473726"/>
          </a:xfrm>
          <a:prstGeom prst="downArrow">
            <a:avLst/>
          </a:prstGeom>
          <a:solidFill>
            <a:srgbClr val="07ACBD">
              <a:alpha val="43000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下箭头 32"/>
          <p:cNvSpPr/>
          <p:nvPr/>
        </p:nvSpPr>
        <p:spPr>
          <a:xfrm rot="2376157">
            <a:off x="1501584" y="2570238"/>
            <a:ext cx="396607" cy="473726"/>
          </a:xfrm>
          <a:prstGeom prst="downArrow">
            <a:avLst/>
          </a:prstGeom>
          <a:solidFill>
            <a:srgbClr val="07ACBD">
              <a:alpha val="43000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下箭头 33"/>
          <p:cNvSpPr/>
          <p:nvPr/>
        </p:nvSpPr>
        <p:spPr>
          <a:xfrm rot="2376157">
            <a:off x="5890083" y="5310991"/>
            <a:ext cx="396607" cy="473726"/>
          </a:xfrm>
          <a:prstGeom prst="downArrow">
            <a:avLst/>
          </a:prstGeom>
          <a:solidFill>
            <a:srgbClr val="07ACBD">
              <a:alpha val="43000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下箭头 34"/>
          <p:cNvSpPr/>
          <p:nvPr/>
        </p:nvSpPr>
        <p:spPr>
          <a:xfrm>
            <a:off x="1102805" y="3924572"/>
            <a:ext cx="396607" cy="473726"/>
          </a:xfrm>
          <a:prstGeom prst="downArrow">
            <a:avLst/>
          </a:prstGeom>
          <a:solidFill>
            <a:srgbClr val="07ACBD">
              <a:alpha val="43000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下箭头 35"/>
          <p:cNvSpPr/>
          <p:nvPr/>
        </p:nvSpPr>
        <p:spPr>
          <a:xfrm>
            <a:off x="6193862" y="3937091"/>
            <a:ext cx="396607" cy="473726"/>
          </a:xfrm>
          <a:prstGeom prst="downArrow">
            <a:avLst/>
          </a:prstGeom>
          <a:solidFill>
            <a:srgbClr val="07ACBD">
              <a:alpha val="43000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下箭头 36"/>
          <p:cNvSpPr/>
          <p:nvPr/>
        </p:nvSpPr>
        <p:spPr>
          <a:xfrm rot="-2400000">
            <a:off x="5889700" y="2570238"/>
            <a:ext cx="396607" cy="473726"/>
          </a:xfrm>
          <a:prstGeom prst="downArrow">
            <a:avLst/>
          </a:prstGeom>
          <a:solidFill>
            <a:srgbClr val="07ACBD">
              <a:alpha val="43000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下箭头 37"/>
          <p:cNvSpPr/>
          <p:nvPr/>
        </p:nvSpPr>
        <p:spPr>
          <a:xfrm rot="-2400000">
            <a:off x="1501966" y="5310995"/>
            <a:ext cx="396607" cy="473726"/>
          </a:xfrm>
          <a:prstGeom prst="downArrow">
            <a:avLst/>
          </a:prstGeom>
          <a:solidFill>
            <a:srgbClr val="07ACBD">
              <a:alpha val="43000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下箭头 38"/>
          <p:cNvSpPr/>
          <p:nvPr/>
        </p:nvSpPr>
        <p:spPr>
          <a:xfrm rot="16200000">
            <a:off x="2377739" y="3370196"/>
            <a:ext cx="396607" cy="245103"/>
          </a:xfrm>
          <a:prstGeom prst="downArrow">
            <a:avLst/>
          </a:prstGeom>
          <a:solidFill>
            <a:srgbClr val="3C56E5">
              <a:alpha val="43000"/>
            </a:srgbClr>
          </a:solidFill>
          <a:ln w="3175">
            <a:solidFill>
              <a:srgbClr val="3C56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下箭头 39"/>
          <p:cNvSpPr/>
          <p:nvPr/>
        </p:nvSpPr>
        <p:spPr>
          <a:xfrm rot="16200000">
            <a:off x="4929660" y="3361603"/>
            <a:ext cx="396607" cy="245103"/>
          </a:xfrm>
          <a:prstGeom prst="downArrow">
            <a:avLst/>
          </a:prstGeom>
          <a:solidFill>
            <a:srgbClr val="3C56E5">
              <a:alpha val="43000"/>
            </a:srgbClr>
          </a:solidFill>
          <a:ln w="3175">
            <a:solidFill>
              <a:srgbClr val="3C56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1" name="图片 40" descr="图示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9465" y="1029349"/>
            <a:ext cx="4424954" cy="5527569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8976342" y="1029349"/>
            <a:ext cx="1588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MARS</a:t>
            </a:r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工具链</a:t>
            </a:r>
            <a:endParaRPr kumimoji="1"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1" y="87814"/>
            <a:ext cx="12184364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zh-CN" altLang="en-US" sz="2800" b="1" kern="1200">
                <a:ln w="18415" cmpd="sng">
                  <a:noFill/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algn="ctr"/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研究进展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MARS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2.0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工具链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3" name="灯片编号占位符 1"/>
          <p:cNvSpPr txBox="1"/>
          <p:nvPr/>
        </p:nvSpPr>
        <p:spPr>
          <a:xfrm>
            <a:off x="10050765" y="6495595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7208E000-400B-49E5-A4B3-B6F0CB0FC0D6}" type="slidenum">
              <a:rPr lang="zh-CN" altLang="en-US" sz="1400">
                <a:solidFill>
                  <a:srgbClr val="003798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fld>
            <a:endParaRPr lang="zh-CN" altLang="en-US" sz="1400" dirty="0">
              <a:solidFill>
                <a:srgbClr val="003798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504594" y="5881357"/>
            <a:ext cx="9175178" cy="646331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kumimoji="1" lang="en-GB" altLang="zh-CN" dirty="0"/>
              <a:t>Xiong Xu, Shuling Wang, </a:t>
            </a:r>
            <a:r>
              <a:rPr kumimoji="1" lang="en-GB" altLang="zh-CN" dirty="0" err="1"/>
              <a:t>Bohua</a:t>
            </a:r>
            <a:r>
              <a:rPr kumimoji="1" lang="en-GB" altLang="zh-CN" dirty="0"/>
              <a:t> Zhan et al.: </a:t>
            </a:r>
            <a:r>
              <a:rPr kumimoji="1" lang="en-GB" altLang="zh-CN" b="1" dirty="0"/>
              <a:t>MARS 2.0: A Toolchain for Designing Safety-Critical Cyber-Physical Systems. </a:t>
            </a:r>
            <a:r>
              <a:rPr kumimoji="1" lang="en-GB" altLang="zh-CN" i="1" dirty="0"/>
              <a:t>ACM Transactions on Embedded Systems</a:t>
            </a:r>
            <a:r>
              <a:rPr kumimoji="1" lang="en-GB" altLang="zh-CN" dirty="0"/>
              <a:t>, 2026, Accepted</a:t>
            </a:r>
            <a:r>
              <a:rPr kumimoji="1" lang="en-GB" altLang="zh-CN" i="1" dirty="0"/>
              <a:t>.</a:t>
            </a:r>
            <a:endParaRPr kumimoji="1"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4594" y="1088186"/>
            <a:ext cx="3811905" cy="4704566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268" y="1065248"/>
            <a:ext cx="4727504" cy="47275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1" y="87814"/>
            <a:ext cx="12184364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zh-CN" altLang="en-US" sz="2800" b="1" kern="1200">
                <a:ln w="18415" cmpd="sng">
                  <a:noFill/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algn="ctr"/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研究进展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MARS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2.0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工具链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3" name="灯片编号占位符 1"/>
          <p:cNvSpPr txBox="1"/>
          <p:nvPr/>
        </p:nvSpPr>
        <p:spPr>
          <a:xfrm>
            <a:off x="10050765" y="6495595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7208E000-400B-49E5-A4B3-B6F0CB0FC0D6}" type="slidenum">
              <a:rPr lang="zh-CN" altLang="en-US" sz="1400">
                <a:solidFill>
                  <a:srgbClr val="003798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fld>
            <a:endParaRPr lang="zh-CN" altLang="en-US" sz="1400" dirty="0">
              <a:solidFill>
                <a:srgbClr val="003798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3103" y="1768224"/>
            <a:ext cx="9278159" cy="4891672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149581" y="1105735"/>
            <a:ext cx="58852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MARS 2.0 </a:t>
            </a: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验证引擎：</a:t>
            </a:r>
            <a:r>
              <a:rPr kumimoji="1"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HHLProver</a:t>
            </a:r>
            <a:r>
              <a:rPr kumimoji="1"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Suite</a:t>
            </a:r>
            <a:endParaRPr kumimoji="1"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1" y="87814"/>
            <a:ext cx="12184364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zh-CN" altLang="en-US" sz="2800" b="1" kern="1200">
                <a:ln w="18415" cmpd="sng">
                  <a:noFill/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algn="ctr"/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研究进展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：从自然语言需求到图模型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3" name="灯片编号占位符 1"/>
          <p:cNvSpPr txBox="1"/>
          <p:nvPr/>
        </p:nvSpPr>
        <p:spPr>
          <a:xfrm>
            <a:off x="10050765" y="6495595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7208E000-400B-49E5-A4B3-B6F0CB0FC0D6}" type="slidenum">
              <a:rPr lang="zh-CN" altLang="en-US" sz="1400">
                <a:solidFill>
                  <a:srgbClr val="003798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fld>
            <a:endParaRPr lang="zh-CN" altLang="en-US" sz="1400" dirty="0">
              <a:solidFill>
                <a:srgbClr val="003798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348" y="1883220"/>
            <a:ext cx="11667669" cy="438012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31324" y="6303087"/>
            <a:ext cx="11321715" cy="400110"/>
          </a:xfrm>
          <a:prstGeom prst="rect">
            <a:avLst/>
          </a:prstGeom>
          <a:noFill/>
          <a:ln w="1270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如何让</a:t>
            </a:r>
            <a:r>
              <a:rPr kumimoji="1" lang="en-GB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kumimoji="1"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从自然语言需求自动生成</a:t>
            </a:r>
            <a:r>
              <a:rPr kumimoji="1"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kumimoji="1"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不仅语法正确而且行为正确</a:t>
            </a:r>
            <a:r>
              <a:rPr kumimoji="1"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kumimoji="1"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kumimoji="1" lang="en-GB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SysML</a:t>
            </a:r>
            <a:r>
              <a:rPr kumimoji="1"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序列图</a:t>
            </a:r>
            <a:endParaRPr kumimoji="1" lang="zh-CN" altLang="en-US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92274" y="991667"/>
            <a:ext cx="4160306" cy="369332"/>
          </a:xfrm>
          <a:prstGeom prst="rect">
            <a:avLst/>
          </a:prstGeom>
          <a:noFill/>
          <a:ln w="9525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SysML序列图手动建模效率低、易出错</a:t>
            </a:r>
            <a:endParaRPr kumimoji="1"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111430" y="991667"/>
            <a:ext cx="6276270" cy="369332"/>
          </a:xfrm>
          <a:prstGeom prst="rect">
            <a:avLst/>
          </a:prstGeom>
          <a:noFill/>
          <a:ln w="9525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en-GB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生成的</a:t>
            </a:r>
            <a:r>
              <a:rPr kumimoji="1" lang="en-GB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SysML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序列图存在</a:t>
            </a:r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语法正确但行为错误</a:t>
            </a:r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的问题</a:t>
            </a:r>
            <a:endParaRPr kumimoji="1"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92274" y="1465760"/>
            <a:ext cx="5493812" cy="369332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现有验证方法只能做语法检查，无法检测行为级错误</a:t>
            </a:r>
            <a:endParaRPr kumimoji="1"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453131" y="1465760"/>
            <a:ext cx="4274119" cy="369332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GB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SysML v2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序列图缺乏可执行的形式语义</a:t>
            </a:r>
            <a:endParaRPr kumimoji="1"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843612" y="1396217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. . .</a:t>
            </a:r>
            <a:endParaRPr kumimoji="1" lang="zh-CN" altLang="en-US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3"/>
          <p:cNvSpPr>
            <a:spLocks noChangeArrowheads="1"/>
          </p:cNvSpPr>
          <p:nvPr/>
        </p:nvSpPr>
        <p:spPr bwMode="gray">
          <a:xfrm>
            <a:off x="200951" y="1383015"/>
            <a:ext cx="11782457" cy="1018931"/>
          </a:xfrm>
          <a:prstGeom prst="roundRect">
            <a:avLst>
              <a:gd name="adj" fmla="val 1124"/>
            </a:avLst>
          </a:prstGeom>
          <a:solidFill>
            <a:schemeClr val="accent1">
              <a:lumMod val="20000"/>
              <a:lumOff val="80000"/>
              <a:alpha val="7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altLang="zh-CN" noProof="1">
              <a:solidFill>
                <a:schemeClr val="lt1"/>
              </a:solidFill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" y="87814"/>
            <a:ext cx="12184364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zh-CN" altLang="en-US" sz="2800" b="1" kern="1200">
                <a:ln w="18415" cmpd="sng">
                  <a:noFill/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algn="ctr"/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研究进展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：从自然语言需求到图模型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3" name="灯片编号占位符 1"/>
          <p:cNvSpPr txBox="1"/>
          <p:nvPr/>
        </p:nvSpPr>
        <p:spPr>
          <a:xfrm>
            <a:off x="10050765" y="6495595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7208E000-400B-49E5-A4B3-B6F0CB0FC0D6}" type="slidenum">
              <a:rPr lang="zh-CN" altLang="en-US" sz="1400">
                <a:solidFill>
                  <a:srgbClr val="003798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fld>
            <a:endParaRPr lang="zh-CN" altLang="en-US" sz="1400" dirty="0">
              <a:solidFill>
                <a:srgbClr val="003798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838" y="2451273"/>
            <a:ext cx="11902685" cy="411651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00952" y="1432322"/>
            <a:ext cx="117824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zh-CN" altLang="en-US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形式化驱动：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引入</a:t>
            </a:r>
            <a:r>
              <a:rPr kumimoji="1" lang="en-GB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LTL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约束与</a:t>
            </a:r>
            <a:r>
              <a:rPr kumimoji="1" lang="en-GB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HCSP</a:t>
            </a:r>
            <a:r>
              <a:rPr kumimoji="1" lang="zh-CN" altLang="en-GB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，为</a:t>
            </a:r>
            <a:r>
              <a:rPr kumimoji="1" lang="en-GB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SysML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序列图赋予可执行的形式语义</a:t>
            </a:r>
            <a:endParaRPr kumimoji="1"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zh-CN" altLang="en-US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多智能体闭环生成：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需求解析</a:t>
            </a:r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-&gt; 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模型生成</a:t>
            </a:r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-&gt; 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形式化分析</a:t>
            </a:r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-&gt;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自动修复，形成从自然语言到序列图的闭环管道</a:t>
            </a:r>
            <a:endParaRPr kumimoji="1"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zh-CN" altLang="en-US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需求级修复：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提出需求级修复策略，直接从源头修正需求文本，确保生成模型既行为正确又忠实于原始需求</a:t>
            </a:r>
            <a:endParaRPr kumimoji="1"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00951" y="974561"/>
            <a:ext cx="8197091" cy="376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FA-</a:t>
            </a:r>
            <a:r>
              <a:rPr kumimoji="1"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MAGen</a:t>
            </a:r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基于形式化分析驱动的多智能体</a:t>
            </a:r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SysML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序列图生成框架</a:t>
            </a:r>
            <a:endParaRPr kumimoji="1"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1" y="87814"/>
            <a:ext cx="12184364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zh-CN" altLang="en-US" sz="2800" b="1" kern="1200">
                <a:ln w="18415" cmpd="sng">
                  <a:noFill/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algn="ctr"/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研究进展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：从自然语言需求到图模型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3" name="灯片编号占位符 1"/>
          <p:cNvSpPr txBox="1"/>
          <p:nvPr/>
        </p:nvSpPr>
        <p:spPr>
          <a:xfrm>
            <a:off x="10050765" y="6495595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7208E000-400B-49E5-A4B3-B6F0CB0FC0D6}" type="slidenum">
              <a:rPr lang="zh-CN" altLang="en-US" sz="1400">
                <a:solidFill>
                  <a:srgbClr val="003798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fld>
            <a:endParaRPr lang="zh-CN" altLang="en-US" sz="1400" dirty="0">
              <a:solidFill>
                <a:srgbClr val="003798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394" y="973117"/>
            <a:ext cx="11113211" cy="232690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98" y="3381955"/>
            <a:ext cx="4965700" cy="18288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245" y="3357890"/>
            <a:ext cx="5905360" cy="341229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539394" y="5314088"/>
            <a:ext cx="4965700" cy="1150058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kumimoji="1" lang="en-GB" altLang="zh-CN" sz="1400" dirty="0">
                <a:solidFill>
                  <a:srgbClr val="003CB4"/>
                </a:solidFill>
              </a:rPr>
              <a:t>FA-</a:t>
            </a:r>
            <a:r>
              <a:rPr kumimoji="1" lang="en-GB" altLang="zh-CN" sz="1400" dirty="0" err="1">
                <a:solidFill>
                  <a:srgbClr val="003CB4"/>
                </a:solidFill>
              </a:rPr>
              <a:t>MAGen</a:t>
            </a:r>
            <a:r>
              <a:rPr kumimoji="1" lang="en-GB" altLang="zh-CN" sz="1400" dirty="0">
                <a:solidFill>
                  <a:srgbClr val="003CB4"/>
                </a:solidFill>
              </a:rPr>
              <a:t> </a:t>
            </a:r>
            <a:r>
              <a:rPr kumimoji="1" lang="zh-CN" altLang="en-US" sz="1400" dirty="0">
                <a:solidFill>
                  <a:srgbClr val="003CB4"/>
                </a:solidFill>
              </a:rPr>
              <a:t>整体性能最优，准确率显著优于同类工具</a:t>
            </a:r>
            <a:endParaRPr kumimoji="1" lang="en-US" altLang="zh-CN" sz="1400" dirty="0">
              <a:solidFill>
                <a:srgbClr val="003CB4"/>
              </a:solidFill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kumimoji="1" lang="en-GB" altLang="zh-CN" sz="1400" dirty="0">
                <a:solidFill>
                  <a:srgbClr val="003CB4"/>
                </a:solidFill>
              </a:rPr>
              <a:t>HCSP</a:t>
            </a:r>
            <a:r>
              <a:rPr kumimoji="1" lang="zh-CN" altLang="en-US" sz="1400" dirty="0">
                <a:solidFill>
                  <a:srgbClr val="003CB4"/>
                </a:solidFill>
              </a:rPr>
              <a:t>仿真检测出大量行为错误，需求修复后全部通过验证</a:t>
            </a:r>
            <a:endParaRPr kumimoji="1" lang="en-US" altLang="zh-CN" sz="1400" dirty="0">
              <a:solidFill>
                <a:srgbClr val="003CB4"/>
              </a:solidFill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kumimoji="1" lang="zh-CN" altLang="en-US" sz="1400" dirty="0">
                <a:solidFill>
                  <a:srgbClr val="003CB4"/>
                </a:solidFill>
              </a:rPr>
              <a:t>消融实验证明各模块（例如</a:t>
            </a:r>
            <a:r>
              <a:rPr kumimoji="1" lang="en-US" altLang="zh-CN" sz="1400" dirty="0">
                <a:solidFill>
                  <a:srgbClr val="003CB4"/>
                </a:solidFill>
              </a:rPr>
              <a:t>LTL</a:t>
            </a:r>
            <a:r>
              <a:rPr kumimoji="1" lang="zh-CN" altLang="en-US" sz="1400" dirty="0">
                <a:solidFill>
                  <a:srgbClr val="003CB4"/>
                </a:solidFill>
              </a:rPr>
              <a:t>和</a:t>
            </a:r>
            <a:r>
              <a:rPr kumimoji="1" lang="en-US" altLang="zh-CN" sz="1400" dirty="0">
                <a:solidFill>
                  <a:srgbClr val="003CB4"/>
                </a:solidFill>
              </a:rPr>
              <a:t>HCSP</a:t>
            </a:r>
            <a:r>
              <a:rPr kumimoji="1" lang="zh-CN" altLang="en-US" sz="1400" dirty="0">
                <a:solidFill>
                  <a:srgbClr val="003CB4"/>
                </a:solidFill>
              </a:rPr>
              <a:t>模块）不可或缺</a:t>
            </a:r>
            <a:endParaRPr kumimoji="1" lang="en-US" altLang="zh-CN" sz="1400" dirty="0">
              <a:solidFill>
                <a:srgbClr val="003CB4"/>
              </a:solidFill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kumimoji="1" lang="zh-CN" altLang="en-US" sz="1400" dirty="0">
                <a:solidFill>
                  <a:srgbClr val="003CB4"/>
                </a:solidFill>
              </a:rPr>
              <a:t>需求级修复优于纯代码级修复</a:t>
            </a:r>
            <a:endParaRPr kumimoji="1" lang="zh-CN" altLang="en-US" sz="1400" dirty="0">
              <a:solidFill>
                <a:srgbClr val="003CB4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1" y="87814"/>
            <a:ext cx="12184364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zh-CN" altLang="en-US" sz="2800" b="1" kern="1200">
                <a:ln w="18415" cmpd="sng">
                  <a:noFill/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algn="ctr"/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研究成果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3" name="灯片编号占位符 1"/>
          <p:cNvSpPr txBox="1"/>
          <p:nvPr/>
        </p:nvSpPr>
        <p:spPr>
          <a:xfrm>
            <a:off x="10050765" y="6495595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7208E000-400B-49E5-A4B3-B6F0CB0FC0D6}" type="slidenum">
              <a:rPr lang="zh-CN" altLang="en-US" sz="1400">
                <a:solidFill>
                  <a:srgbClr val="003798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fld>
            <a:endParaRPr lang="zh-CN" altLang="en-US" sz="1400" dirty="0">
              <a:solidFill>
                <a:srgbClr val="003798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03" name="文本框 204"/>
          <p:cNvSpPr txBox="1"/>
          <p:nvPr/>
        </p:nvSpPr>
        <p:spPr>
          <a:xfrm>
            <a:off x="685800" y="128016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kumimoji="1" lang="zh-CN" altLang="en-US" sz="16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论文：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SESpec——Integrating Symbolic Execution with LLMs for Automated Generation of Program Specifications（IEEE TSE，2026，Major Revision）；COINS——How Powerful are LLMs in Generating Formal Program Specifications?（ICML 2026，in press）；MARS 2.0（ACM TECS，2026，Accepted）</a:t>
            </a:r>
            <a:endParaRPr kumimoji="1"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kumimoji="1" lang="zh-CN" altLang="en-US" sz="16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工具与系统：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SESpec 规约自动生成工具、QCP 全链路验证工具链、FloatTest 位级差分测试框架、Code Wiki 代码知识提取、MARS 2.0 工具链、FA-MAGen 序列图生成框架</a:t>
            </a:r>
            <a:endParaRPr kumimoji="1"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kumimoji="1" lang="zh-CN" altLang="en-US" sz="16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数据与知识库：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 IP 知识库 2000 余个形式模型（尚未严格验证）；约 78,700 条机器检查定理及完整测试向量与证据链；COINS 评估基准（HumanEval 164 题 + 人工 Coq 规约）</a:t>
            </a:r>
            <a:endParaRPr kumimoji="1"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kumimoji="1" lang="zh-CN" altLang="en-US" sz="16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验证成果：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合计 95 个程序完成规约验证或测试（QCP 全链路形式化验证 + FloatTest 位级规约测试）；Code Wiki 在 GitHub 多个大规模开源项目上测试通过</a:t>
            </a:r>
            <a:endParaRPr kumimoji="1"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33"/>
          <p:cNvSpPr>
            <a:spLocks noChangeArrowheads="1"/>
          </p:cNvSpPr>
          <p:nvPr/>
        </p:nvSpPr>
        <p:spPr bwMode="gray">
          <a:xfrm>
            <a:off x="654315" y="1394589"/>
            <a:ext cx="10878611" cy="4079782"/>
          </a:xfrm>
          <a:prstGeom prst="roundRect">
            <a:avLst>
              <a:gd name="adj" fmla="val 3568"/>
            </a:avLst>
          </a:prstGeom>
          <a:solidFill>
            <a:schemeClr val="accent1">
              <a:lumMod val="20000"/>
              <a:lumOff val="80000"/>
              <a:alpha val="7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altLang="zh-CN" noProof="1"/>
          </a:p>
        </p:txBody>
      </p:sp>
      <p:sp>
        <p:nvSpPr>
          <p:cNvPr id="15" name="矩形 14"/>
          <p:cNvSpPr/>
          <p:nvPr/>
        </p:nvSpPr>
        <p:spPr>
          <a:xfrm>
            <a:off x="966392" y="1982267"/>
            <a:ext cx="10254456" cy="3085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11200" algn="just" fontAlgn="base">
              <a:lnSpc>
                <a:spcPct val="180000"/>
              </a:lnSpc>
              <a:spcBef>
                <a:spcPct val="0"/>
              </a:spcBef>
            </a:pPr>
            <a:r>
              <a:rPr lang="zh-CN" altLang="en-US" sz="2800" b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本课题在本年度第二季度取得阶段性研究成果：完善了软件</a:t>
            </a:r>
            <a:r>
              <a:rPr lang="en-GB" altLang="zh-CN" sz="2800" b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800" b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形式模型提取方法，为知识库中</a:t>
            </a:r>
            <a:r>
              <a:rPr lang="en-US" altLang="zh-CN" sz="2800" b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2000</a:t>
            </a:r>
            <a:r>
              <a:rPr lang="zh-CN" altLang="en-US" sz="2800" b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余个软件</a:t>
            </a:r>
            <a:r>
              <a:rPr lang="en-GB" altLang="zh-CN" sz="2800" b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800" b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生成了形式模型；同时，探索了利用</a:t>
            </a:r>
            <a:r>
              <a:rPr lang="en-GB" altLang="zh-CN" sz="2800" b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LLM</a:t>
            </a:r>
            <a:r>
              <a:rPr lang="zh-CN" altLang="en-US" sz="2800" b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技术从大规模存量代码中提取软件</a:t>
            </a:r>
            <a:r>
              <a:rPr lang="en-GB" altLang="zh-CN" sz="2800" b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800" b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的能力，为后续工作的进一步提升奠定了基础。</a:t>
            </a:r>
            <a:endParaRPr lang="en-US" altLang="zh-CN" sz="2800" b="1" kern="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Freeform 5"/>
          <p:cNvSpPr/>
          <p:nvPr/>
        </p:nvSpPr>
        <p:spPr bwMode="auto">
          <a:xfrm>
            <a:off x="4846358" y="875218"/>
            <a:ext cx="2494527" cy="909501"/>
          </a:xfrm>
          <a:prstGeom prst="roundRect">
            <a:avLst>
              <a:gd name="adj" fmla="val 50000"/>
            </a:avLst>
          </a:prstGeom>
          <a:solidFill>
            <a:srgbClr val="003CB4"/>
          </a:solidFill>
          <a:ln w="19050">
            <a:noFill/>
          </a:ln>
          <a:effectLst>
            <a:softEdge rad="0"/>
          </a:effectLst>
        </p:spPr>
        <p:txBody>
          <a:bodyPr vert="horz" wrap="square" lIns="68580" tIns="34290" rIns="68580" bIns="34290" numCol="1" anchor="ctr" anchorCtr="0" compatLnSpc="1"/>
          <a:lstStyle/>
          <a:p>
            <a:pPr algn="ctr">
              <a:defRPr/>
            </a:pPr>
            <a:r>
              <a:rPr lang="zh-CN" altLang="en-US" sz="3600" b="1" kern="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总结</a:t>
            </a:r>
            <a:endParaRPr lang="zh-CN" altLang="en-US" sz="3600" b="1" kern="0" spc="30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灯片编号占位符 1"/>
          <p:cNvSpPr txBox="1"/>
          <p:nvPr/>
        </p:nvSpPr>
        <p:spPr>
          <a:xfrm>
            <a:off x="10050765" y="6495595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7208E000-400B-49E5-A4B3-B6F0CB0FC0D6}" type="slidenum">
              <a:rPr lang="zh-CN" altLang="en-US" sz="1400">
                <a:solidFill>
                  <a:srgbClr val="003798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fld>
            <a:endParaRPr lang="zh-CN" altLang="en-US" sz="1400" dirty="0">
              <a:solidFill>
                <a:srgbClr val="003798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24530"/>
    </mc:Choice>
    <mc:Fallback>
      <p:transition advTm="2453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1470259"/>
            <a:ext cx="12192000" cy="3917482"/>
            <a:chOff x="-8610" y="1951184"/>
            <a:chExt cx="9144000" cy="2780473"/>
          </a:xfrm>
        </p:grpSpPr>
        <p:sp>
          <p:nvSpPr>
            <p:cNvPr id="5" name="矩形 4"/>
            <p:cNvSpPr/>
            <p:nvPr/>
          </p:nvSpPr>
          <p:spPr>
            <a:xfrm>
              <a:off x="-8610" y="2141764"/>
              <a:ext cx="9144000" cy="2426301"/>
            </a:xfrm>
            <a:prstGeom prst="rect">
              <a:avLst/>
            </a:prstGeom>
            <a:solidFill>
              <a:srgbClr val="003C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-8610" y="1951184"/>
              <a:ext cx="9144000" cy="55285"/>
            </a:xfrm>
            <a:prstGeom prst="rect">
              <a:avLst/>
            </a:prstGeom>
            <a:solidFill>
              <a:srgbClr val="003C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-8610" y="4676372"/>
              <a:ext cx="9144000" cy="55285"/>
            </a:xfrm>
            <a:prstGeom prst="rect">
              <a:avLst/>
            </a:prstGeom>
            <a:solidFill>
              <a:srgbClr val="003C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8" name="矩形 3"/>
          <p:cNvSpPr/>
          <p:nvPr/>
        </p:nvSpPr>
        <p:spPr>
          <a:xfrm>
            <a:off x="2754658" y="3543435"/>
            <a:ext cx="695575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kumimoji="1"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敬请各位专家批评指正！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883465" y="2422944"/>
            <a:ext cx="4522150" cy="1107996"/>
            <a:chOff x="2555776" y="2266188"/>
            <a:chExt cx="4522150" cy="1107996"/>
          </a:xfrm>
        </p:grpSpPr>
        <p:sp>
          <p:nvSpPr>
            <p:cNvPr id="10" name="文本框 9"/>
            <p:cNvSpPr txBox="1"/>
            <p:nvPr/>
          </p:nvSpPr>
          <p:spPr>
            <a:xfrm>
              <a:off x="3255391" y="2266188"/>
              <a:ext cx="3564219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谢谢！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5982444" y="2820186"/>
              <a:ext cx="1095482" cy="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chemeClr val="bg1"/>
                  </a:gs>
                </a:gsLst>
                <a:lin ang="72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H="1">
              <a:off x="2555776" y="2820186"/>
              <a:ext cx="1095482" cy="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chemeClr val="bg1"/>
                  </a:gs>
                </a:gsLst>
                <a:lin ang="72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4560</Words>
  <Application>WPS 演示</Application>
  <PresentationFormat>宽屏</PresentationFormat>
  <Paragraphs>308</Paragraphs>
  <Slides>19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Times New Roman</vt:lpstr>
      <vt:lpstr>Helvetica Light</vt:lpstr>
      <vt:lpstr>Times New Roman</vt:lpstr>
      <vt:lpstr>Calibri</vt:lpstr>
      <vt:lpstr>Arial Unicode MS</vt:lpstr>
      <vt:lpstr>等线 Light</vt:lpstr>
      <vt:lpstr>Calibri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705</dc:creator>
  <cp:lastModifiedBy>Meredith</cp:lastModifiedBy>
  <cp:revision>12560</cp:revision>
  <dcterms:created xsi:type="dcterms:W3CDTF">2015-05-09T01:34:00Z</dcterms:created>
  <dcterms:modified xsi:type="dcterms:W3CDTF">2026-09-20T12:16:00Z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3E81FD648FCE45139D71D136DFB3EDD6_12</vt:lpwstr>
  </property>
</Properties>
</file>