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1702" r:id="rId3"/>
    <p:sldId id="1703" r:id="rId5"/>
    <p:sldId id="2392" r:id="rId6"/>
    <p:sldId id="2393" r:id="rId7"/>
    <p:sldId id="2371" r:id="rId8"/>
    <p:sldId id="2372" r:id="rId9"/>
    <p:sldId id="2367" r:id="rId10"/>
    <p:sldId id="2373" r:id="rId11"/>
    <p:sldId id="2377" r:id="rId12"/>
    <p:sldId id="2376" r:id="rId13"/>
    <p:sldId id="2375" r:id="rId14"/>
    <p:sldId id="2378" r:id="rId15"/>
    <p:sldId id="2380" r:id="rId16"/>
    <p:sldId id="2379" r:id="rId17"/>
    <p:sldId id="2381" r:id="rId18"/>
    <p:sldId id="2382" r:id="rId19"/>
    <p:sldId id="2383" r:id="rId20"/>
    <p:sldId id="2385" r:id="rId21"/>
    <p:sldId id="2386" r:id="rId22"/>
    <p:sldId id="2388" r:id="rId23"/>
    <p:sldId id="174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0" userDrawn="1">
          <p15:clr>
            <a:srgbClr val="A4A3A4"/>
          </p15:clr>
        </p15:guide>
        <p15:guide id="10" pos="363" userDrawn="1">
          <p15:clr>
            <a:srgbClr val="A4A3A4"/>
          </p15:clr>
        </p15:guide>
        <p15:guide id="11" pos="7238" userDrawn="1">
          <p15:clr>
            <a:srgbClr val="A4A3A4"/>
          </p15:clr>
        </p15:guide>
        <p15:guide id="12" orient="horz" pos="20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小白 白" initials="小白" lastIdx="10" clrIdx="6"/>
  <p:cmAuthor id="1" name="13501127502@126.com" initials="1" lastIdx="7" clrIdx="0"/>
  <p:cmAuthor id="8" name="Ming Zhao" initials="ZM" lastIdx="1" clrIdx="7"/>
  <p:cmAuthor id="2" name="admin" initials="a" lastIdx="15" clrIdx="1"/>
  <p:cmAuthor id="9" name="ICENT" initials="I" lastIdx="0" clrIdx="8"/>
  <p:cmAuthor id="3" name="Windows 用户" initials="W用" lastIdx="13" clrIdx="2"/>
  <p:cmAuthor id="10" name="Huang, Junjie" initials="HJ" lastIdx="0" clrIdx="9"/>
  <p:cmAuthor id="4" name="zhaoming" initials="z" lastIdx="9" clrIdx="3"/>
  <p:cmAuthor id="5" name="赵 明" initials="赵" lastIdx="160" clrIdx="4"/>
  <p:cmAuthor id="6" name="Win10 Hello!" initials="WH" lastIdx="2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40FF"/>
    <a:srgbClr val="003CB4"/>
    <a:srgbClr val="005493"/>
    <a:srgbClr val="011893"/>
    <a:srgbClr val="521B93"/>
    <a:srgbClr val="012E87"/>
    <a:srgbClr val="2292C4"/>
    <a:srgbClr val="0070C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33" autoAdjust="0"/>
    <p:restoredTop sz="95220" autoAdjust="0"/>
  </p:normalViewPr>
  <p:slideViewPr>
    <p:cSldViewPr snapToGrid="0" showGuides="1">
      <p:cViewPr varScale="1">
        <p:scale>
          <a:sx n="88" d="100"/>
          <a:sy n="88" d="100"/>
        </p:scale>
        <p:origin x="105" y="57"/>
      </p:cViewPr>
      <p:guideLst>
        <p:guide pos="3830"/>
        <p:guide pos="363"/>
        <p:guide pos="7238"/>
        <p:guide orient="horz" pos="2073"/>
      </p:guideLst>
    </p:cSldViewPr>
  </p:slideViewPr>
  <p:outlineViewPr>
    <p:cViewPr>
      <p:scale>
        <a:sx n="33" d="100"/>
        <a:sy n="33" d="100"/>
      </p:scale>
      <p:origin x="0" y="78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F4A40-BD67-0E4F-9360-529D0E22A9C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7D873-633D-AE49-BE6A-CBFD989223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367EE-C53D-4094-A02B-8655132EEA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0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国科模板-z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0" y="1"/>
            <a:ext cx="12202163" cy="812067"/>
            <a:chOff x="0" y="0"/>
            <a:chExt cx="9151622" cy="812067"/>
          </a:xfrm>
        </p:grpSpPr>
        <p:pic>
          <p:nvPicPr>
            <p:cNvPr id="5" name="Picture 2" descr="https://gimg2.baidu.com/image_search/src=http%3A%2F%2Finews.gtimg.com%2Fnewsapp_match%2F0%2F5807861945%2F0.jpg&amp;refer=http%3A%2F%2Finews.gtimg.com&amp;app=2002&amp;size=f9999,10000&amp;q=a80&amp;n=0&amp;g=0n&amp;fmt=jpeg?sec=1637753230&amp;t=a4113d5f6caf9ba3b0c75a2928afb250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5328"/>
            <a:stretch>
              <a:fillRect/>
            </a:stretch>
          </p:blipFill>
          <p:spPr bwMode="auto">
            <a:xfrm>
              <a:off x="0" y="0"/>
              <a:ext cx="9151622" cy="812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0" y="0"/>
              <a:ext cx="9151622" cy="812067"/>
            </a:xfrm>
            <a:prstGeom prst="rect">
              <a:avLst/>
            </a:prstGeom>
            <a:solidFill>
              <a:srgbClr val="003296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0504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57264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嵌入式软件智能合成基础理论与方法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0207" y="149368"/>
            <a:ext cx="4493538" cy="523220"/>
          </a:xfrm>
        </p:spPr>
        <p:txBody>
          <a:bodyPr wrap="none">
            <a:spAutoFit/>
          </a:bodyPr>
          <a:lstStyle>
            <a:lvl1pPr algn="l">
              <a:defRPr lang="zh-CN" altLang="en-US" sz="2800" b="1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algn="l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8817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0504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40151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可信软件设计开发与验证的基础理论研究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 txBox="1"/>
          <p:nvPr userDrawn="1"/>
        </p:nvSpPr>
        <p:spPr>
          <a:xfrm>
            <a:off x="9064107" y="647050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08E000-400B-49E5-A4B3-B6F0CB0FC0D6}" type="slidenum">
              <a:rPr lang="zh-CN" altLang="en-US" sz="1400" smtClean="0"/>
            </a:fld>
            <a:endParaRPr lang="zh-CN" altLang="en-US" sz="1400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705\Desktop\d1a20cf431adcbef4528754daeaf2edda3cc9f58.png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1088555" y="57324"/>
            <a:ext cx="820352" cy="61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40151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可信软件设计开发与验证的基础理论研究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085" y="131287"/>
            <a:ext cx="4493538" cy="523220"/>
          </a:xfrm>
        </p:spPr>
        <p:txBody>
          <a:bodyPr wrap="none">
            <a:spAutoFit/>
          </a:bodyPr>
          <a:lstStyle>
            <a:lvl1pPr algn="l">
              <a:defRPr lang="zh-CN" altLang="en-US" sz="2800" b="1">
                <a:ln w="1905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algn="l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96975" y="5497760"/>
            <a:ext cx="9144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</a:t>
            </a:r>
            <a:r>
              <a:rPr lang="zh-CN" altLang="en-US" sz="2400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n w="10541" cmpd="sng">
                  <a:noFill/>
                  <a:prstDash val="solid"/>
                </a:ln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400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sz="2400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 </a:t>
            </a:r>
            <a:r>
              <a:rPr lang="en-US" altLang="zh-CN" sz="2400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lang="zh-CN" altLang="en-US" sz="2400" dirty="0">
                <a:ln w="10541" cmpd="sng">
                  <a:noFill/>
                  <a:prstDash val="solid"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  <a:endParaRPr lang="zh-CN" altLang="en-US" sz="2400" dirty="0">
              <a:ln w="10541" cmpd="sng">
                <a:noFill/>
                <a:prstDash val="solid"/>
              </a:ln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-145414" y="2317237"/>
            <a:ext cx="12185230" cy="151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大模型辅助的程序验证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汇报人：王淑灵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338" y="4639250"/>
            <a:ext cx="4059273" cy="559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0" y="-5211"/>
            <a:ext cx="12192000" cy="1976755"/>
            <a:chOff x="0" y="2882"/>
            <a:chExt cx="9151622" cy="1765439"/>
          </a:xfrm>
        </p:grpSpPr>
        <p:pic>
          <p:nvPicPr>
            <p:cNvPr id="2050" name="Picture 2" descr="https://gimg2.baidu.com/image_search/src=http%3A%2F%2Finews.gtimg.com%2Fnewsapp_match%2F0%2F5807861945%2F0.jpg&amp;refer=http%3A%2F%2Finews.gtimg.com&amp;app=2002&amp;size=f9999,10000&amp;q=a80&amp;n=0&amp;g=0n&amp;fmt=jpeg?sec=1637753230&amp;t=a4113d5f6caf9ba3b0c75a2928afb25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82"/>
              <a:ext cx="9151622" cy="1741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矩形 14"/>
            <p:cNvSpPr/>
            <p:nvPr/>
          </p:nvSpPr>
          <p:spPr>
            <a:xfrm>
              <a:off x="2383" y="2882"/>
              <a:ext cx="9148762" cy="1765439"/>
            </a:xfrm>
            <a:prstGeom prst="rect">
              <a:avLst/>
            </a:prstGeom>
            <a:solidFill>
              <a:srgbClr val="003296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483235" y="84455"/>
            <a:ext cx="11228070" cy="1840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eaLnBrk="0" fontAlgn="auto" hangingPunct="0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sz="44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中国科学院软件研究所</a:t>
            </a:r>
            <a:endParaRPr lang="zh-CN" altLang="en-US" sz="4400" b="1" dirty="0">
              <a:ln w="10541" cmpd="sng">
                <a:noFill/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ctr" eaLnBrk="0" fontAlgn="auto" hangingPunct="0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sz="36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“智能与软件”成果展示与交流会</a:t>
            </a:r>
            <a:endParaRPr lang="zh-CN" altLang="en-US" sz="3600" b="1" dirty="0">
              <a:ln w="10541" cmpd="sng">
                <a:noFill/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14129" y="3983902"/>
            <a:ext cx="121818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天基综合信息系统全国重点实验室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2041" y="1305352"/>
            <a:ext cx="8261429" cy="4437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00000"/>
              <a:defRPr/>
            </a:pPr>
            <a:r>
              <a:rPr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</a:t>
            </a:r>
            <a:endParaRPr lang="en-US" altLang="zh-CN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二、研究进展介绍</a:t>
            </a:r>
            <a:endParaRPr lang="en-US" altLang="zh-CN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defRPr/>
            </a:pPr>
            <a:r>
              <a:rPr lang="en-US" altLang="zh-CN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1. </a:t>
            </a:r>
            <a:r>
              <a:rPr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大模型辅助的形式规约生成</a:t>
            </a:r>
            <a:endParaRPr lang="en-US" altLang="zh-CN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defRPr/>
            </a:pPr>
            <a:r>
              <a:rPr lang="en-US" altLang="zh-CN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2. </a:t>
            </a:r>
            <a:r>
              <a:rPr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大模型形式规约生成与验证能力评估</a:t>
            </a:r>
            <a:endParaRPr lang="en-US" altLang="zh-CN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defRPr/>
            </a:pPr>
            <a:r>
              <a:rPr lang="en-US" altLang="zh-CN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3. </a:t>
            </a:r>
            <a:r>
              <a:rPr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代码智能体长周期</a:t>
            </a:r>
            <a:r>
              <a:rPr lang="en-US" altLang="zh-CN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程序验证</a:t>
            </a:r>
            <a:endParaRPr lang="en-US" altLang="zh-CN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defRPr/>
            </a:pPr>
            <a:r>
              <a:rPr lang="zh-CN" altLang="en-US" sz="3200" b="1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三、总结</a:t>
            </a:r>
            <a:endParaRPr lang="en-US" altLang="zh-CN" sz="3200" b="1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87814"/>
            <a:ext cx="12184365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</a:rPr>
              <a:t>汇报提纲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研究背景：一个例子——单链表求长程序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1480" y="1097280"/>
            <a:ext cx="201168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非形式需求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3246120" cy="180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●"/>
            </a:pPr>
            <a:r>
              <a:rPr sz="13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输入：单链表头指针 linklist</a:t>
            </a:r>
            <a:endParaRPr sz="13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buChar char="●"/>
            </a:pPr>
            <a:r>
              <a:rPr sz="13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输出：链表的结点个数</a:t>
            </a:r>
            <a:endParaRPr sz="13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buChar char="●"/>
            </a:pPr>
            <a:r>
              <a:rPr sz="13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约束：不修改链表内容</a:t>
            </a:r>
            <a:endParaRPr sz="13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buChar char="●"/>
            </a:pPr>
            <a:r>
              <a:rPr sz="13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空表返回 0</a:t>
            </a:r>
            <a:endParaRPr sz="13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buChar char="●"/>
            </a:pPr>
            <a:r>
              <a:rPr sz="13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头结点为哨兵结点，不含数据</a:t>
            </a:r>
            <a:endParaRPr sz="13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buChar char="●"/>
            </a:pPr>
            <a:endParaRPr sz="13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31920" y="1097280"/>
            <a:ext cx="274320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 程序（含循环）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31920" y="1600200"/>
            <a:ext cx="7818120" cy="3383280"/>
          </a:xfrm>
          <a:prstGeom prst="rect">
            <a:avLst/>
          </a:prstGeom>
          <a:solidFill>
            <a:srgbClr val="F5F5F5"/>
          </a:solidFill>
          <a:ln w="9525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typedef struct SingleLinklistNode {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struct SingleLinklistNode *node_next;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} SysSingleLinklistType;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unsigned int SingleLinkListGetLen(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    const SysSingleLinklistType *linklist)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unsigned int length = 0;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const SysSingleLinklistType *tmp_list = linklist-&gt;node_next;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while (tmp_list != (void *)0) {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    tmp_list = tmp_list-&gt;node_next;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    length++;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}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return length;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1920" y="5257800"/>
            <a:ext cx="781812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问题：如何严格证明它对</a:t>
            </a: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</a:t>
            </a:r>
            <a:r>
              <a:rPr sz="14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链表都正确（不越界、计数正确、不修改链表）？</a:t>
            </a:r>
            <a:endParaRPr sz="14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需要：形式规约 + 验证条件生成 + 证明。</a:t>
            </a:r>
            <a:endParaRPr sz="1400" b="1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研究背景：形式规约与证明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1480" y="1097280"/>
            <a:ext cx="384048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 功能规约（Require / Ensure）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6949440" cy="1417320"/>
          </a:xfrm>
          <a:prstGeom prst="rect">
            <a:avLst/>
          </a:prstGeom>
          <a:solidFill>
            <a:srgbClr val="F5F5F5"/>
          </a:solidFill>
          <a:ln w="9525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unsigned int SingleLinkListGetLen(const SysSingleLinklistType *linklist)</a:t>
            </a:r>
            <a:endParaRPr sz="120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/*@ With (la : list Z)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Require  sll_head(linklist, la)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         -- 前提：内存中是以 linklist 为哨兵头、地址序列为 la 的链表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Ensure   __return == Zlength(la) &amp;&amp;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         sll_head(linklist@pre, la) */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         -- 保证：返回 la 的长度；链表保持原样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1480" y="3291840"/>
            <a:ext cx="475488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 中间辅助断言（循环不变式 Inv）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3794760"/>
            <a:ext cx="6949440" cy="2103120"/>
          </a:xfrm>
          <a:prstGeom prst="rect">
            <a:avLst/>
          </a:prstGeom>
          <a:solidFill>
            <a:srgbClr val="F5F5F5"/>
          </a:solidFill>
          <a:ln w="9525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unsigned int length = 0;</a:t>
            </a:r>
            <a:endParaRPr sz="120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const SysSingleLinklistType *tmp_list = linklist-&gt;node_next;</a:t>
            </a:r>
            <a:endParaRPr sz="120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/*@ Inv exists first la1 la2,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      la == app(la1, la2) &amp;&amp; length == Zlength(la1) &amp;&amp;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      linklist == linklist@pre &amp;&amp; linklist-&gt;node_next == first &amp;&amp;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      sllseg(first, tmp_list, la1) * sll(tmp_list, la2) */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      -- 任意时刻：已扫描段 la1 已计数 length = |la1|，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3CB4"/>
                </a:solidFill>
                <a:latin typeface="Consolas" panose="020B0609020204030204"/>
                <a:ea typeface="Consolas" panose="020B0609020204030204"/>
              </a:rPr>
              <a:t>             剩余段 la2 仍是链表，整体 la = la1 ++ la2 不变</a:t>
            </a:r>
            <a:endParaRPr sz="1200" b="0">
              <a:solidFill>
                <a:srgbClr val="003CB4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while (tmp_list != (void *)0) { ... }</a:t>
            </a:r>
            <a:endParaRPr sz="120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  return length;</a:t>
            </a:r>
            <a:endParaRPr sz="120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5989320"/>
            <a:ext cx="69494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不变式</a:t>
            </a:r>
            <a:r>
              <a:rPr lang="zh-CN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循环程序验证的关键</a:t>
            </a:r>
            <a:r>
              <a:rPr lang="zh-CN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难点。</a:t>
            </a:r>
            <a:endParaRPr sz="1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35240" y="1097280"/>
            <a:ext cx="411480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 验证条件（VC）与证明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35240" y="1600200"/>
            <a:ext cx="4114800" cy="1972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VC：工具沿程序路径自动生成的数学命题，本例产生四类：</a:t>
            </a:r>
            <a:endParaRPr sz="1200" b="1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入口：</a:t>
            </a:r>
            <a:r>
              <a:rPr sz="12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循环开始前不变式成立（la1 = 空，length = 0）</a:t>
            </a:r>
            <a:endParaRPr sz="12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保持：</a:t>
            </a:r>
            <a:r>
              <a:rPr sz="12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不变式 ∧ 循环条件 ⟹ 执行循环体后不变式仍成立</a:t>
            </a:r>
            <a:endParaRPr sz="12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退出：</a:t>
            </a:r>
            <a:r>
              <a:rPr sz="12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不变式 ∧ 循环结束 ⟹ 返回值 = |la| 且链表不变</a:t>
            </a:r>
            <a:endParaRPr sz="12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Aft>
                <a:spcPts val="400"/>
              </a:spcAft>
            </a:pPr>
            <a:r>
              <a:rPr sz="12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安全：</a:t>
            </a:r>
            <a:r>
              <a:rPr sz="12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所有指针访问合法（无空解引用、不越界）</a:t>
            </a:r>
            <a:endParaRPr sz="12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endParaRPr sz="1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35240" y="3383280"/>
            <a:ext cx="4114800" cy="2781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“退出” VC 实例：</a:t>
            </a:r>
            <a:endParaRPr sz="1200" b="1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35240" y="3794760"/>
            <a:ext cx="4114800" cy="1143000"/>
          </a:xfrm>
          <a:prstGeom prst="rect">
            <a:avLst/>
          </a:prstGeom>
          <a:solidFill>
            <a:srgbClr val="F5F5F5"/>
          </a:solidFill>
          <a:ln w="9525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forall la la1 la2 length first,</a:t>
            </a:r>
            <a:endParaRPr sz="9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tmp_list = 0  /\  la = la1 ++ la2  /\  length = Zlength(la1)  /\</a:t>
            </a:r>
            <a:endParaRPr sz="9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&amp;(linklist-&gt;node_next) |-&gt; first</a:t>
            </a:r>
            <a:endParaRPr sz="9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* sllseg(first, 0, la1) * sll(0, la2)</a:t>
            </a:r>
            <a:endParaRPr sz="9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|--</a:t>
            </a:r>
            <a:endParaRPr sz="9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Consolas" panose="020B0609020204030204"/>
                <a:ea typeface="Consolas" panose="020B0609020204030204"/>
              </a:rPr>
              <a:t>  length = Zlength(la)  /\  sll_head(linklist, la)</a:t>
            </a:r>
            <a:endParaRPr sz="950" b="0">
              <a:solidFill>
                <a:srgbClr val="44546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35240" y="5024120"/>
            <a:ext cx="4114800" cy="3543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全部 VC 得证 ⟹ </a:t>
            </a:r>
            <a:r>
              <a:rPr 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程序对任意输入链表都满足规约</a:t>
            </a:r>
            <a:endParaRPr sz="1400" b="1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证明由 Rocq 完成，或由 SMT 求解器自动完成。</a:t>
            </a:r>
            <a:endParaRPr sz="1400" b="1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" y="62636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② ③ 即 CAV-Bench 的三个任务阶段：I 规约生成、II 辅助标注生成、III 证明生成。</a:t>
            </a:r>
            <a:endParaRPr sz="1300" b="1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/>
          <p:cNvSpPr/>
          <p:nvPr/>
        </p:nvSpPr>
        <p:spPr>
          <a:xfrm>
            <a:off x="7790607" y="3506239"/>
            <a:ext cx="3598956" cy="2960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信号量使用不当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临界区保护不充分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临界区嵌套问题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递归调用函数实现错误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内部数据结构空应用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权能移动条件设置错误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多类测试无法发现的深层错误！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研究背景：操作系统微内核的验证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3326" y="1099744"/>
            <a:ext cx="10552430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航天科工四院，某微内核操作系统形式化验证，2021-2023，1750万</a:t>
            </a:r>
            <a:endParaRPr lang="zh-CN" altLang="en-US" sz="20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3717" y="1806761"/>
            <a:ext cx="11124565" cy="1622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lnSpc>
                <a:spcPct val="142000"/>
              </a:lnSpc>
              <a:spcBef>
                <a:spcPts val="0"/>
              </a:spcBef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en-US" b="1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首次验证了</a:t>
            </a:r>
            <a:r>
              <a:rPr lang="zh-CN" altLang="en-US" b="1" kern="0" dirty="0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大规模多核实时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操作系统微内核的功能正确性和系统级安全性。</a:t>
            </a:r>
            <a:endParaRPr lang="zh-CN" altLang="en-US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l" fontAlgn="base">
              <a:lnSpc>
                <a:spcPct val="142000"/>
              </a:lnSpc>
              <a:spcBef>
                <a:spcPts val="0"/>
              </a:spcBef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验证</a:t>
            </a:r>
            <a:r>
              <a:rPr lang="en-US" altLang="zh-CN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代码行数</a:t>
            </a:r>
            <a:r>
              <a:rPr lang="en-US" altLang="zh-CN" b="1" kern="0" dirty="0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kern="0" dirty="0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万行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，人工构建形式规约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，人工书写</a:t>
            </a:r>
            <a:r>
              <a:rPr lang="en-US" altLang="zh-CN" kern="0" dirty="0" err="1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Rocq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证明代码</a:t>
            </a:r>
            <a:r>
              <a:rPr lang="en-US" altLang="zh-CN" b="1" kern="0" dirty="0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45</a:t>
            </a:r>
            <a:r>
              <a:rPr lang="zh-CN" altLang="en-US" b="1" kern="0" dirty="0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万余行</a:t>
            </a:r>
            <a:r>
              <a:rPr lang="zh-CN" altLang="en-US" b="1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 fontAlgn="base">
              <a:lnSpc>
                <a:spcPct val="142000"/>
              </a:lnSpc>
              <a:spcBef>
                <a:spcPts val="0"/>
              </a:spcBef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共发现</a:t>
            </a:r>
            <a:r>
              <a:rPr lang="zh-CN" altLang="en-US" b="1" kern="0" dirty="0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20余类</a:t>
            </a:r>
            <a:r>
              <a:rPr lang="zh-CN" altLang="en-US" b="1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代码深层错误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，获甲方</a:t>
            </a:r>
            <a:r>
              <a:rPr lang="zh-CN" altLang="en-US" b="1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充分肯定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，已修改的版本通过</a:t>
            </a:r>
            <a:r>
              <a:rPr lang="zh-CN" altLang="en-US" b="1" kern="0" dirty="0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再次重新验证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 fontAlgn="base">
              <a:lnSpc>
                <a:spcPct val="142000"/>
              </a:lnSpc>
              <a:spcBef>
                <a:spcPts val="0"/>
              </a:spcBef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通过验证的操作系统内核后续应用于</a:t>
            </a:r>
            <a:r>
              <a:rPr lang="zh-CN" altLang="en-US" b="1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国家重大战略装备多个型号</a:t>
            </a:r>
            <a:r>
              <a:rPr lang="zh-CN" altLang="en-US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62" y="3670617"/>
            <a:ext cx="3775710" cy="27971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570" y="3630133"/>
            <a:ext cx="2081553" cy="2878141"/>
          </a:xfrm>
          <a:prstGeom prst="rect">
            <a:avLst/>
          </a:prstGeom>
        </p:spPr>
      </p:pic>
      <p:sp>
        <p:nvSpPr>
          <p:cNvPr id="17" name="箭头: 右 16"/>
          <p:cNvSpPr/>
          <p:nvPr/>
        </p:nvSpPr>
        <p:spPr>
          <a:xfrm>
            <a:off x="7002577" y="4720744"/>
            <a:ext cx="615576" cy="5319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17160" y="1828524"/>
            <a:ext cx="10584038" cy="16004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0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已有研究工作面临的挑战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1936" y="1924864"/>
            <a:ext cx="8622406" cy="1407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人工书写规约非常困难</a:t>
            </a:r>
            <a:endParaRPr lang="en-US" altLang="zh-CN" sz="20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证明脚本自动化能力严重不足</a:t>
            </a:r>
            <a:endParaRPr lang="en-US" altLang="zh-CN" sz="20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 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证明维护和修复成本极高</a:t>
            </a:r>
            <a:endParaRPr lang="en-US" altLang="zh-CN" sz="20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160" y="3519140"/>
            <a:ext cx="1074306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大模型与形式化方法深度融合的程序验证技术，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力求突破以上问题，最终目标是支持大规模程序的高效验证。</a:t>
            </a:r>
            <a:endParaRPr lang="zh-CN" altLang="en-US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20504" y="1148621"/>
            <a:ext cx="8219661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操作系统等大规模基础软件的形式化验证，迫切需要解决以下问题：</a:t>
            </a:r>
            <a:endParaRPr lang="zh-CN" altLang="en-US" sz="20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过程 6"/>
          <p:cNvSpPr/>
          <p:nvPr>
            <p:custDataLst>
              <p:tags r:id="rId1"/>
            </p:custDataLst>
          </p:nvPr>
        </p:nvSpPr>
        <p:spPr>
          <a:xfrm>
            <a:off x="315595" y="1390967"/>
            <a:ext cx="11203305" cy="258468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研究一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大模型辅助的形式规约生成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315596" y="1036638"/>
            <a:ext cx="214363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7704" y="1465639"/>
            <a:ext cx="10797956" cy="23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b="1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安全关键领域的存量代码规约生成</a:t>
            </a:r>
            <a:endParaRPr lang="en-US" altLang="zh-CN" b="1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在航空航天等安全关键领域（如控制、制导），存在大量宝贵的存量代码。</a:t>
            </a:r>
            <a:endParaRPr lang="zh-CN" altLang="zh-CN" sz="1600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为其生成形式化规约（前置/后置条件），是保障程序理解、可靠复用及智能软件开发的</a:t>
            </a:r>
            <a:r>
              <a:rPr lang="zh-CN" altLang="en-US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</a:t>
            </a:r>
            <a:r>
              <a:rPr lang="zh-CN" altLang="zh-CN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b="1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基础软件形式化验证的规约构建</a:t>
            </a:r>
            <a:endParaRPr lang="en-US" altLang="zh-CN" b="1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操作系统、编译器等</a:t>
            </a:r>
            <a:r>
              <a:rPr lang="zh-CN" altLang="en-US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大规模</a:t>
            </a:r>
            <a:r>
              <a:rPr lang="zh-CN" altLang="zh-CN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关键基础软件，高度依赖形式化验证来严格保证正确性。</a:t>
            </a:r>
            <a:endParaRPr lang="en-US" altLang="zh-CN" sz="1600" kern="0" dirty="0"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构建形式化规约是验证的第一步</a:t>
            </a:r>
            <a:r>
              <a:rPr lang="zh-CN" altLang="en-US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从代码出发生成规约是该环节的重要组成</a:t>
            </a:r>
            <a:r>
              <a:rPr lang="zh-CN" altLang="en-US" sz="1600" kern="0" dirty="0"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5594" y="4488082"/>
            <a:ext cx="11203305" cy="1373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复杂的控制结构：</a:t>
            </a: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嵌套分支、函数调用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、循环（</a:t>
            </a:r>
            <a:r>
              <a:rPr lang="zh-CN" altLang="en-US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循环的验证一直是学术界的难题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复杂的数据</a:t>
            </a:r>
            <a:r>
              <a:rPr lang="zh-CN" altLang="en-US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结构</a:t>
            </a:r>
            <a:r>
              <a:rPr lang="zh-CN" altLang="zh-CN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指针、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链表、树等</a:t>
            </a: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归纳数据类型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（引起别名与共享）</a:t>
            </a:r>
            <a:endParaRPr lang="en-US" altLang="zh-CN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规约的要求：</a:t>
            </a: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必须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可靠的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通过验证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），又必须是</a:t>
            </a:r>
            <a:r>
              <a:rPr lang="zh-CN" altLang="en-US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足够强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的（不能太弱，反映设计需求）</a:t>
            </a:r>
            <a:endParaRPr lang="zh-CN" altLang="en-US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315595" y="4133752"/>
            <a:ext cx="2092514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挑战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6611" y="6030911"/>
            <a:ext cx="10940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本工作研究</a:t>
            </a:r>
            <a:r>
              <a:rPr lang="zh-CN" altLang="en-US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大模型、符号执行及自动定理证明深度融合的</a:t>
            </a:r>
            <a:r>
              <a:rPr lang="en-US" altLang="zh-CN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程序形式规约生成，保证规约的可靠性和强度。</a:t>
            </a:r>
            <a:endParaRPr lang="zh-CN" altLang="en-US" b="1" kern="0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过程 6"/>
          <p:cNvSpPr/>
          <p:nvPr>
            <p:custDataLst>
              <p:tags r:id="rId1"/>
            </p:custDataLst>
          </p:nvPr>
        </p:nvSpPr>
        <p:spPr>
          <a:xfrm>
            <a:off x="315595" y="1390968"/>
            <a:ext cx="11203305" cy="4223180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研究一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大模型辅助的形式规约生成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315596" y="1036638"/>
            <a:ext cx="214363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相关工作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7704" y="1465639"/>
            <a:ext cx="10797956" cy="401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● 动态规约生成：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极度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依赖动态测试覆盖的程度。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● 传统静态分析等方法：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主要针对特定类型的程序或规约形式。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● 机器学习和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SMT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求解器结合：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多面向单层数值程序，并且通常依赖给定模板与验证目标。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● 大模型辅助的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ATP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自动定理证明规约生成：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扩展了候选规约表达能力，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但受少样例提示、静态抽象、运行时错误目标依赖影响等。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● 大模型的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ITP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交互式定理证明规约生成：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的工作具有更强的逻辑表达能力，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但通常要求程序在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Lean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中重写，难以直接作用于现成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376093" y="1322512"/>
            <a:ext cx="5251076" cy="5076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研究一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大模型辅助的形式规约生成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596" y="1659151"/>
            <a:ext cx="5676404" cy="473962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29400" y="1506072"/>
            <a:ext cx="4787153" cy="4602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8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形式规约的自动生成分为三部分：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280"/>
              </a:spcAft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函数级功能规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约的自动生成。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面向一个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 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自动生成启动符号执行所需的默认最弱前置条件；对于无循环片段，基于符号执行计算路径敏感的精确后置条件。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280"/>
              </a:spcAft>
              <a:buFont typeface="Wingdings" panose="05000000000000000000" pitchFamily="2" charset="2"/>
              <a:buChar char="l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循环不变式的自动生成。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到达循环入口时，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利用符号执行的完整信息，生成循环不变式模板，再由大模型补全难以模板化的循环不变关系。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280"/>
              </a:spcAft>
              <a:buFont typeface="Wingdings" panose="05000000000000000000" pitchFamily="2" charset="2"/>
              <a:buChar char="l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验证器反馈驱动的规约精化。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当候选规约不能通过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时，根据错误类别进行有针对性的修复。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2217" y="997100"/>
            <a:ext cx="2995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总体架构</a:t>
            </a:r>
            <a:endParaRPr lang="zh-CN" altLang="en-US" sz="2400" b="1" dirty="0">
              <a:solidFill>
                <a:srgbClr val="043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09711" y="1270747"/>
            <a:ext cx="5251076" cy="5076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研究一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大模型辅助的形式规约生成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33775" y="1543102"/>
            <a:ext cx="4681925" cy="4666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80"/>
              </a:spcAft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符号执行引擎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QCP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曹钦翔等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对无循环片段生成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最强后置条件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，尤其擅长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复杂数据结构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的规约描述和推理。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大模型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280"/>
              </a:spcAft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基于符号执行信息，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生成更强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的循环不变式与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缺失的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函数前后置条件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spcAft>
                <a:spcPts val="280"/>
              </a:spcAft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自动验证工具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Frama-C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28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由带规约标注的程序自动生成验证条件，并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通过SMT求解器，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自动证明验证条件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28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28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三者协同，构成“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符号执行 -&gt; LLM生成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验证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器反馈驱动修复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规约自动生成闭环。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61" y="1755514"/>
            <a:ext cx="5938539" cy="352178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57200" y="5412442"/>
            <a:ext cx="5150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QCP、LLM、Frama-C分别使用三种不同的语言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，需要构建它们之间的正确的语言转换。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57200" y="1081437"/>
            <a:ext cx="2995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具体实现</a:t>
            </a:r>
            <a:endParaRPr lang="zh-CN" altLang="en-US" sz="2400" b="1" dirty="0">
              <a:solidFill>
                <a:srgbClr val="043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研究一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大模型辅助的形式规约生成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7208" y="1008824"/>
            <a:ext cx="5711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zh-CN" altLang="en-US" sz="2400" b="1" dirty="0">
              <a:solidFill>
                <a:srgbClr val="0432FF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676" y="2206169"/>
            <a:ext cx="9209443" cy="244566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46311" y="1502519"/>
            <a:ext cx="9049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/>
            </a:lvl1pPr>
          </a:lstStyle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SESPEC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可以处理什么样的程序？规约生成的效率如何？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1310" y="4793600"/>
            <a:ext cx="10649031" cy="11432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SESPEC 为 89.4% (353/395) 的程序生成了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规约，覆盖线性/非线性循环、内存及链表等。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的情况包括：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嵌套/多循环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非线性算术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递归数据结构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外部/递归调用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研究一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大模型辅助的形式规约生成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7208" y="1008824"/>
            <a:ext cx="5711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zh-CN" altLang="en-US" sz="2400" b="1" dirty="0">
              <a:solidFill>
                <a:srgbClr val="0432FF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6311" y="1502519"/>
            <a:ext cx="9049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/>
            </a:lvl1pPr>
          </a:lstStyle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SESPEC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与其他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sota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工作的对比，以及消融实验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65035" y="4941794"/>
            <a:ext cx="6656036" cy="1479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对标专用工具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：在数值不变式生成上，表现相当。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显著超越 LLM 基线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：明显优于基于 LLM 的生成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优势领域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指针、结构体、链表等复杂数据结构优势大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5313" y="2265829"/>
            <a:ext cx="4194133" cy="22100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34" y="1894466"/>
            <a:ext cx="7007037" cy="295093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637929" y="4941794"/>
            <a:ext cx="3812242" cy="1398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符号执行与验证器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引导的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精化修复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贡献了独立且互补的增益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lang="zh-CN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753035" y="1048870"/>
            <a:ext cx="10529047" cy="8875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fontAlgn="base"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SESPEC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应用于航天控制系统软件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规约的生成，</a:t>
            </a:r>
            <a:r>
              <a:rPr lang="zh-CN" altLang="zh-CN" dirty="0"/>
              <a:t>探测该方法</a:t>
            </a:r>
            <a:r>
              <a:rPr lang="zh-CN" altLang="en-US" dirty="0"/>
              <a:t>可应用</a:t>
            </a:r>
            <a:r>
              <a:rPr lang="zh-CN" altLang="zh-CN" dirty="0"/>
              <a:t>的规模边界</a:t>
            </a:r>
            <a:r>
              <a:rPr lang="zh-CN" altLang="zh-CN" b="0" dirty="0"/>
              <a:t>。</a:t>
            </a:r>
            <a:r>
              <a:rPr lang="zh-CN" altLang="en-US" b="0" dirty="0"/>
              <a:t>以下为太阳搜索系统</a:t>
            </a:r>
            <a:r>
              <a:rPr lang="zh-CN" altLang="zh-CN" b="0" dirty="0"/>
              <a:t>数据处理</a:t>
            </a:r>
            <a:r>
              <a:rPr lang="zh-CN" altLang="en-US" b="0" dirty="0"/>
              <a:t>管道软件模块，包括</a:t>
            </a:r>
            <a:r>
              <a:rPr lang="zh-CN" altLang="zh-CN" b="0" dirty="0"/>
              <a:t>14个函数、33个</a:t>
            </a:r>
            <a:r>
              <a:rPr lang="zh-CN" altLang="en-US" b="0" dirty="0"/>
              <a:t>函数</a:t>
            </a:r>
            <a:r>
              <a:rPr lang="zh-CN" altLang="zh-CN" b="0" dirty="0"/>
              <a:t>调用和8个循环</a:t>
            </a:r>
            <a:r>
              <a:rPr lang="zh-CN" altLang="en-US" b="0" dirty="0"/>
              <a:t>。</a:t>
            </a:r>
            <a:endParaRPr lang="zh-CN" altLang="en-US" b="0" dirty="0"/>
          </a:p>
          <a:p>
            <a:pPr lvl="0" algn="just" fontAlgn="base">
              <a:defRPr/>
            </a:pPr>
            <a:endParaRPr lang="en-US" altLang="zh-CN" b="0" dirty="0"/>
          </a:p>
          <a:p>
            <a:pPr lvl="0" algn="just" fontAlgn="base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研究一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大模型辅助的形式规约生成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15" y="1936374"/>
            <a:ext cx="8085726" cy="25986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761" y="2630624"/>
            <a:ext cx="2742124" cy="2013156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9009491" y="2094794"/>
            <a:ext cx="162687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 2" panose="05020102010507070707" pitchFamily="18" charset="2"/>
              <a:buNone/>
            </a:pP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生成规约片段</a:t>
            </a:r>
            <a:endParaRPr lang="zh-CN" altLang="en-US" sz="1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1115" y="4751497"/>
            <a:ext cx="11127183" cy="12748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chemeClr val="tx1"/>
                </a:solidFill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 个函数中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 个成功生成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ACSL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格式的形式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规约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对于产生的证明义务，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Frama-C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验证通过率为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601/625（96.2%）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自动定理证明（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ATP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后端的 SMT 求解能力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成为规约生成和验证</a:t>
            </a:r>
            <a:r>
              <a:rPr lang="zh-CN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的主导限制。</a:t>
            </a:r>
            <a:endParaRPr lang="zh-CN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0610" y="6242827"/>
            <a:ext cx="1010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交互式定理证明（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）是有效的解决方式，问题从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ATP 自动化转移到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自动的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证明构造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与生成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243090" y="4161770"/>
            <a:ext cx="10940143" cy="1923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研究二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大模型形式规约生成与验证的能力评估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流程图: 过程 29"/>
          <p:cNvSpPr/>
          <p:nvPr>
            <p:custDataLst>
              <p:tags r:id="rId1"/>
            </p:custDataLst>
          </p:nvPr>
        </p:nvSpPr>
        <p:spPr>
          <a:xfrm>
            <a:off x="315595" y="1390967"/>
            <a:ext cx="11148023" cy="230025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2"/>
            </p:custDataLst>
          </p:nvPr>
        </p:nvSpPr>
        <p:spPr>
          <a:xfrm>
            <a:off x="315596" y="1036638"/>
            <a:ext cx="214363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研究问题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07704" y="1465639"/>
            <a:ext cx="10797956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构建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精确形式化规约的成本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很高，且难以评估正确性。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通过验证程序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是否满足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规约，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依赖验证工具，且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只能部分反映规约质量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CLEVER 等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依赖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人工标注的 ground-truth 规约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严格要求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等价证明，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证明成本非常高（成功率为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0.621%）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以上两种方法均证明代价大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，且失败原因难以诊断（规约错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实现错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还是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能力不足？）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65518" y="4161770"/>
            <a:ext cx="109401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本工作提出</a:t>
            </a:r>
            <a:r>
              <a:rPr lang="en-US" altLang="zh-CN" sz="1800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Coins</a:t>
            </a:r>
            <a:r>
              <a:rPr lang="zh-CN" altLang="en-US" sz="1800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，一个</a:t>
            </a:r>
            <a:r>
              <a:rPr lang="zh-CN" altLang="zh-CN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基于实例化测试用例的规约评估框架</a:t>
            </a:r>
            <a:r>
              <a:rPr lang="zh-CN" altLang="en-US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b="1" kern="0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构建 HumanEval 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Rocq 规约数据集（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164 个问题，人工编写 + 专家交叉评审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 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 个 SOTA LLM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进行大规模实证评估（超 10 万次定理证明尝试）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得分从 28.05%（Gemini 3 Pro Preview）到 1.22%（DeepSeek-V3.1），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成功区分模型能力差异。</a:t>
            </a:r>
            <a:endParaRPr lang="zh-CN" altLang="zh-CN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b="1" kern="0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19417" y="6193095"/>
            <a:ext cx="6428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Coins stands for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altLang="zh-CN" dirty="0" err="1"/>
              <a:t>COq</a:t>
            </a:r>
            <a:r>
              <a:rPr lang="en-US" altLang="zh-CN" dirty="0"/>
              <a:t>-based </a:t>
            </a:r>
            <a:r>
              <a:rPr lang="en-US" altLang="zh-CN" dirty="0" err="1"/>
              <a:t>INstantiated</a:t>
            </a:r>
            <a:r>
              <a:rPr lang="en-US" altLang="zh-CN" dirty="0"/>
              <a:t> Specification evaluation”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研究二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大模型形式规约生成与验证的能力评估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12" y="1608873"/>
            <a:ext cx="6216413" cy="38439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7200" y="1081437"/>
            <a:ext cx="2995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Coins</a:t>
            </a:r>
            <a:r>
              <a:rPr lang="zh-CN" altLang="en-US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评估框架</a:t>
            </a:r>
            <a:endParaRPr lang="zh-CN" altLang="en-US" sz="2400" b="1" dirty="0">
              <a:solidFill>
                <a:srgbClr val="0432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88841" y="1315499"/>
            <a:ext cx="4941061" cy="4052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准备阶段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人工规约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164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 </a:t>
            </a:r>
            <a:r>
              <a:rPr lang="en-US" altLang="zh-CN" sz="16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HumanEval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问题的基准规约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提示策略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测试套件：正例（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）负例（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1640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个）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lang="zh-CN" altLang="en-US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评估阶段：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SYNTAX：规约能否在 Rocq 中编译</a:t>
            </a:r>
            <a:endParaRPr lang="zh-CN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PASSfirst：能否证明接受第一个正例</a:t>
            </a:r>
            <a:endParaRPr lang="zh-CN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PASSall：能否证明接受所有正例</a:t>
            </a:r>
            <a:endParaRPr lang="zh-CN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REJECTall（核心）：能否证明不接受任何负例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lang="zh-CN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6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仅同时通过 PASSall 与 REJECTall 的规约，被认定为候选规约。</a:t>
            </a:r>
            <a:endParaRPr lang="zh-CN" altLang="zh-CN" sz="16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l">
              <a:spcBef>
                <a:spcPts val="450"/>
              </a:spcBef>
              <a:spcAft>
                <a:spcPts val="600"/>
              </a:spcAft>
            </a:pPr>
            <a:endParaRPr lang="zh-CN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215" y="77470"/>
            <a:ext cx="120072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研究二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大模型形式规约生成与验证的能力评估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7200" y="1081437"/>
            <a:ext cx="2995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zh-CN" altLang="en-US" sz="2400" b="1" dirty="0">
              <a:solidFill>
                <a:srgbClr val="0432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5991"/>
            <a:ext cx="4305331" cy="22860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4591" y="1698163"/>
            <a:ext cx="6144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哪个</a:t>
            </a:r>
            <a:r>
              <a:rPr lang="en-US" altLang="zh-CN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的验证效果最好？</a:t>
            </a:r>
            <a:endParaRPr lang="en-US" altLang="zh-CN" sz="18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85313" y="4942905"/>
            <a:ext cx="5210001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证明失败是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源于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错误还是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证明能力不足？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消融实验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表明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，提升规约质量 +5.01%，增强验证能力 +3.05%，两者均显著，规约质量影响更大。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4498" y="4942905"/>
            <a:ext cx="5536573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评估规约质量依赖验证能力，Gemini 3 Pro Preview 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最强（PASSall 29.88%），选为后续实验的主验证器；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但即便最强也远非理想。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46124" y="1625511"/>
            <a:ext cx="346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为什么规约的质量很难评估？</a:t>
            </a:r>
            <a:endParaRPr lang="zh-CN" altLang="zh-CN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877" y="2136170"/>
            <a:ext cx="3942806" cy="27380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857" y="77470"/>
            <a:ext cx="1196757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研究三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zh-CN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代码智能体能否完成长周期 C 程序验证？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5595" y="4468280"/>
            <a:ext cx="11196048" cy="17365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流程图: 过程 13"/>
          <p:cNvSpPr/>
          <p:nvPr>
            <p:custDataLst>
              <p:tags r:id="rId1"/>
            </p:custDataLst>
          </p:nvPr>
        </p:nvSpPr>
        <p:spPr>
          <a:xfrm>
            <a:off x="315595" y="1390967"/>
            <a:ext cx="11196048" cy="2770803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315596" y="1036638"/>
            <a:ext cx="214363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36611" y="1406325"/>
            <a:ext cx="107979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代码智能体的演进，从单次响应式代码生成 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走向长周期、仓库级工作流。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然而，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现有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评估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基准（HumanEval、MBPP、SWE-bench）多依赖不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完备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的输入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输出测试来判定正确性。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验证包含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三个紧密耦合的阶段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规约生成、中间辅助断言生成、证明生成。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现有程序验证的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评估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：仅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/辅助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断言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标注生成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，或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证明生成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Coins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属于第一种。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智能体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能否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完成长周期程序验证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：规约生成、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辅助标注与证明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生成，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包括在证明失败时回溯修订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规约和中间断言，缺少研究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36612" y="4547466"/>
            <a:ext cx="10734308" cy="15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本工作研究</a:t>
            </a:r>
            <a:r>
              <a:rPr lang="zh-CN" altLang="zh-CN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代码智能体能否完成完整的 C 验证工作流，</a:t>
            </a:r>
            <a:r>
              <a:rPr lang="zh-CN" altLang="en-US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评估其在不同程序验证阶段</a:t>
            </a:r>
            <a:r>
              <a:rPr lang="zh-CN" altLang="zh-CN" b="1" kern="0" dirty="0">
                <a:solidFill>
                  <a:srgbClr val="003C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的长周期协同能力。</a:t>
            </a:r>
            <a:endParaRPr lang="en-US" altLang="zh-CN" b="1" kern="0" dirty="0">
              <a:solidFill>
                <a:srgbClr val="003C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首个形式化验证的 HumanEval C 实现基准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，每个任务包括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可执行 C 程序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及其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形式规约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、辅助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断言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标注、Rocq 证明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根据涵盖阶段不同，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定义三种智能体任务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I+II+III, II+III, III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），并评估它们在基准集的表现。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871127" y="1235529"/>
            <a:ext cx="5156596" cy="4757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8857" y="77470"/>
            <a:ext cx="1196757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研究三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zh-CN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代码智能体能否完成长周期 C 程序验证？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77" y="1753948"/>
            <a:ext cx="6632505" cy="288336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7200" y="1081437"/>
            <a:ext cx="3543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CAV-Bench</a:t>
            </a:r>
            <a:r>
              <a:rPr lang="zh-CN" altLang="en-US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总体架构</a:t>
            </a:r>
            <a:endParaRPr lang="zh-CN" altLang="en-US" sz="2400" b="1" dirty="0">
              <a:solidFill>
                <a:srgbClr val="0432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71127" y="1312269"/>
            <a:ext cx="4941061" cy="469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基准数据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CAV-Bench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HumanEval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140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个程序任务（去掉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float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程序）</a:t>
            </a:r>
            <a:endParaRPr lang="zh-CN" altLang="en-US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人在环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Ground-truth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构建：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由不具备 Rocq 经验的硕士生担任人在环操作者，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引导代码智能体生成辅助标注与证明，QCP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验证工具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验证条件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，Rocq 检查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不写任何定义和证明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仅当 VCG 重新生成全部目标、Rocq 接受全部证明、专家确认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规约满足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意图行为时，任务才被纳入。</a:t>
            </a:r>
            <a:r>
              <a:rPr lang="zh-CN" altLang="en-US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</a:t>
            </a:r>
            <a:r>
              <a:rPr lang="en-US" altLang="zh-CN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140</a:t>
            </a:r>
            <a:r>
              <a:rPr lang="zh-CN" altLang="en-US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个程序任务。</a:t>
            </a:r>
            <a:endParaRPr lang="zh-CN" altLang="zh-CN" sz="1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三种任务设置：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主任务，端到端，以及仅证明</a:t>
            </a:r>
            <a:endParaRPr lang="zh-CN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l">
              <a:spcBef>
                <a:spcPts val="450"/>
              </a:spcBef>
              <a:spcAft>
                <a:spcPts val="600"/>
              </a:spcAft>
            </a:pPr>
            <a:endParaRPr lang="zh-CN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348343" y="5780048"/>
            <a:ext cx="5338120" cy="854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602186" y="5131843"/>
            <a:ext cx="5132614" cy="100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602186" y="3793672"/>
            <a:ext cx="5132614" cy="718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8857" y="77470"/>
            <a:ext cx="1196757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研究三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zh-CN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代码智能体能否完成长周期 C 程序验证？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1629" y="983592"/>
            <a:ext cx="3543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zh-CN" altLang="en-US" sz="2400" b="1" dirty="0">
              <a:solidFill>
                <a:srgbClr val="0432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52624"/>
            <a:ext cx="5229263" cy="359095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7200" y="1564274"/>
            <a:ext cx="61449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智能体完成 C 验证的表现如何？</a:t>
            </a:r>
            <a:endParaRPr lang="zh-CN" altLang="zh-CN" b="1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1417" y="5803507"/>
            <a:ext cx="5527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最强配置 GPT-5.5（xhigh）仅验证</a:t>
            </a:r>
            <a:r>
              <a:rPr lang="zh-CN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80/140（57.1%）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即使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短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HumanEval 函数，也需长周期验证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反复仓库探索、标注修订、证明修复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等）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867539" y="1075925"/>
            <a:ext cx="4076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难度来自哪个阶段？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02186" y="3854574"/>
            <a:ext cx="4997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证明阶段占用成功运行的大部分时间，但</a:t>
            </a:r>
            <a:r>
              <a:rPr lang="zh-CN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其难度主要</a:t>
            </a:r>
            <a:endParaRPr lang="en-US" altLang="zh-CN" sz="16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来自辅助标注与证明的交互</a:t>
            </a:r>
            <a:endParaRPr lang="zh-CN" altLang="en-US" sz="16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10" y="1552978"/>
            <a:ext cx="4914900" cy="219387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039644" y="4637586"/>
            <a:ext cx="4099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智能体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运行为何失败</a:t>
            </a:r>
            <a:r>
              <a:rPr lang="zh-CN" altLang="zh-CN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zh-CN" altLang="en-US" sz="18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02186" y="5205155"/>
            <a:ext cx="45656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841 次非超时失败中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88.5%到达证明阶段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11.5%在 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VCG</a:t>
            </a: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阶段失败。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CN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大多数失败到达证明阶段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857" y="77470"/>
            <a:ext cx="1196757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1480" y="1188720"/>
            <a:ext cx="237744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研究一：规约生成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63240" y="1207008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SESPEC 为 89.4%（353/395）的程序生成可靠规约；航天控制系统软件 IP 应用 13/14 个函数成功、96.2%（601/625）验证条件通过。自动定理证明（ATP）能力是主导限制，交互式定理证明（ITP）是出路。</a:t>
            </a:r>
            <a:endParaRPr sz="14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1480" y="2670048"/>
            <a:ext cx="237744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研究二：能力评估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63240" y="2688336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Coins 以实例化测试用例评估规约质量，有效区分 6 个 SOTA 模型（得分 28.05%–1.22%）；消融表明规约质量（+5.01%）比证明能力（+3.05%）影响更大。</a:t>
            </a:r>
            <a:endParaRPr sz="14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1480" y="4151376"/>
            <a:ext cx="2377440" cy="354330"/>
          </a:xfrm>
          <a:prstGeom prst="rect">
            <a:avLst/>
          </a:prstGeom>
          <a:solidFill>
            <a:srgbClr val="003C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研究三：长周期验证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3240" y="4169664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CAV-Bench 端到端验证最强配置完成 57.1%（80/140）；即使短函数也需长周期验证，难度主要来自辅助标注与证明的交互。</a:t>
            </a:r>
            <a:endParaRPr sz="1400" b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571500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大模型与形式化方法深度融合的程序验证：规约生成、质量评估、端到端验证，仍有大量提升空间。</a:t>
            </a:r>
            <a:endParaRPr sz="1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470259"/>
            <a:ext cx="12192000" cy="3917482"/>
            <a:chOff x="-8610" y="1951184"/>
            <a:chExt cx="9144000" cy="2780473"/>
          </a:xfrm>
        </p:grpSpPr>
        <p:sp>
          <p:nvSpPr>
            <p:cNvPr id="5" name="矩形 4"/>
            <p:cNvSpPr/>
            <p:nvPr/>
          </p:nvSpPr>
          <p:spPr>
            <a:xfrm>
              <a:off x="-8610" y="2141764"/>
              <a:ext cx="9144000" cy="2426301"/>
            </a:xfrm>
            <a:prstGeom prst="rect">
              <a:avLst/>
            </a:prstGeom>
            <a:solidFill>
              <a:srgbClr val="003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-8610" y="1951184"/>
              <a:ext cx="9144000" cy="55285"/>
            </a:xfrm>
            <a:prstGeom prst="rect">
              <a:avLst/>
            </a:prstGeom>
            <a:solidFill>
              <a:srgbClr val="003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-8610" y="4676372"/>
              <a:ext cx="9144000" cy="55285"/>
            </a:xfrm>
            <a:prstGeom prst="rect">
              <a:avLst/>
            </a:prstGeom>
            <a:solidFill>
              <a:srgbClr val="003C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8" name="矩形 3"/>
          <p:cNvSpPr/>
          <p:nvPr/>
        </p:nvSpPr>
        <p:spPr>
          <a:xfrm>
            <a:off x="3985764" y="3543435"/>
            <a:ext cx="449353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敬请批评指正！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83465" y="2422944"/>
            <a:ext cx="4522150" cy="1107996"/>
            <a:chOff x="2555776" y="2266188"/>
            <a:chExt cx="4522150" cy="1107996"/>
          </a:xfrm>
        </p:grpSpPr>
        <p:sp>
          <p:nvSpPr>
            <p:cNvPr id="10" name="文本框 9"/>
            <p:cNvSpPr txBox="1"/>
            <p:nvPr/>
          </p:nvSpPr>
          <p:spPr>
            <a:xfrm>
              <a:off x="3255391" y="2266188"/>
              <a:ext cx="356421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谢谢！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5982444" y="2820186"/>
              <a:ext cx="1095482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/>
                  </a:gs>
                </a:gsLst>
                <a:lin ang="7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2555776" y="2820186"/>
              <a:ext cx="1095482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/>
                  </a:gs>
                </a:gsLst>
                <a:lin ang="7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ags/tag2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ags/tag3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ags/tag4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ags/tag5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ags/tag6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ags/tag7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ags/tag8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ags/tag9.xml><?xml version="1.0" encoding="utf-8"?>
<p:tagLst xmlns:p="http://schemas.openxmlformats.org/presentationml/2006/main">
  <p:tag name="KSO_WM_DIAGRAM_VIRTUALLY_FRAME" val="{&quot;height&quot;:441.95,&quot;left&quot;:38.3,&quot;top&quot;:82.05,&quot;width&quot;:882.1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6209</Words>
  <Application>WPS 演示</Application>
  <PresentationFormat>宽屏</PresentationFormat>
  <Paragraphs>367</Paragraphs>
  <Slides>21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Times New Roman</vt:lpstr>
      <vt:lpstr>Consolas</vt:lpstr>
      <vt:lpstr>Wingdings</vt:lpstr>
      <vt:lpstr>Calibri</vt:lpstr>
      <vt:lpstr>Arial Unicode MS</vt:lpstr>
      <vt:lpstr>等线 Light</vt:lpstr>
      <vt:lpstr>Calibri Light</vt:lpstr>
      <vt:lpstr>等线</vt:lpstr>
      <vt:lpstr>Wingdings 2</vt:lpstr>
      <vt:lpstr>quote-cjk-patch</vt:lpstr>
      <vt:lpstr>Calibri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705</dc:creator>
  <cp:lastModifiedBy>Meredith</cp:lastModifiedBy>
  <cp:revision>12668</cp:revision>
  <dcterms:created xsi:type="dcterms:W3CDTF">2015-05-09T01:34:00Z</dcterms:created>
  <dcterms:modified xsi:type="dcterms:W3CDTF">2026-09-14T08:00:40Z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AC55A8F977A9485694E8AE7A2FF65272_13</vt:lpwstr>
  </property>
</Properties>
</file>