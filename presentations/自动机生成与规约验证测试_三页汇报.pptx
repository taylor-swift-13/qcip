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40" userDrawn="1">
          <p15:clr>
            <a:srgbClr val="A4A3A4"/>
          </p15:clr>
        </p15:guide>
        <p15:guide id="10" pos="363" userDrawn="1">
          <p15:clr>
            <a:srgbClr val="A4A3A4"/>
          </p15:clr>
        </p15:guide>
        <p15:guide id="11" pos="7317" userDrawn="1">
          <p15:clr>
            <a:srgbClr val="A4A3A4"/>
          </p15:clr>
        </p15:guide>
        <p15:guide id="12" orient="horz" pos="21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小白 白" initials="小白" lastIdx="10" clrIdx="6"/>
  <p:cmAuthor id="1" name="13501127502@126.com" initials="1" lastIdx="7" clrIdx="0"/>
  <p:cmAuthor id="8" name="Ming Zhao" initials="ZM" lastIdx="1" clrIdx="7"/>
  <p:cmAuthor id="2" name="admin" initials="a" lastIdx="15" clrIdx="1"/>
  <p:cmAuthor id="3" name="Windows 用户" initials="W用" lastIdx="13" clrIdx="2"/>
  <p:cmAuthor id="4" name="zhaoming" initials="z" lastIdx="9" clrIdx="3"/>
  <p:cmAuthor id="5" name="赵 明" initials="赵" lastIdx="160" clrIdx="4"/>
  <p:cmAuthor id="6" name="Win10 Hello!" initials="WH" lastIdx="2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CB4"/>
    <a:srgbClr val="0432FF"/>
    <a:srgbClr val="005493"/>
    <a:srgbClr val="011893"/>
    <a:srgbClr val="521B93"/>
    <a:srgbClr val="012E87"/>
    <a:srgbClr val="FF40FF"/>
    <a:srgbClr val="2292C4"/>
    <a:srgbClr val="0070C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7" autoAdjust="0"/>
    <p:restoredTop sz="87986" autoAdjust="0"/>
  </p:normalViewPr>
  <p:slideViewPr>
    <p:cSldViewPr snapToGrid="0" showGuides="1">
      <p:cViewPr>
        <p:scale>
          <a:sx n="106" d="100"/>
          <a:sy n="106" d="100"/>
        </p:scale>
        <p:origin x="984" y="160"/>
      </p:cViewPr>
      <p:guideLst>
        <p:guide pos="3840"/>
        <p:guide pos="363"/>
        <p:guide pos="7317"/>
        <p:guide orient="horz" pos="2183"/>
      </p:guideLst>
    </p:cSldViewPr>
  </p:slideViewPr>
  <p:outlineViewPr>
    <p:cViewPr>
      <p:scale>
        <a:sx n="33" d="100"/>
        <a:sy n="33" d="100"/>
      </p:scale>
      <p:origin x="0" y="782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F4A40-BD67-0E4F-9360-529D0E22A9C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7D873-633D-AE49-BE6A-CBFD989223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367EE-C53D-4094-A02B-8655132EEA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E4503-A94C-4765-8E71-BF5BCAD6DC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国科模板-z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0" y="1"/>
            <a:ext cx="12202163" cy="812067"/>
            <a:chOff x="0" y="0"/>
            <a:chExt cx="9151622" cy="812067"/>
          </a:xfrm>
        </p:grpSpPr>
        <p:pic>
          <p:nvPicPr>
            <p:cNvPr id="5" name="Picture 2" descr="https://gimg2.baidu.com/image_search/src=http%3A%2F%2Finews.gtimg.com%2Fnewsapp_match%2F0%2F5807861945%2F0.jpg&amp;refer=http%3A%2F%2Finews.gtimg.com&amp;app=2002&amp;size=f9999,10000&amp;q=a80&amp;n=0&amp;g=0n&amp;fmt=jpeg?sec=1637753230&amp;t=a4113d5f6caf9ba3b0c75a2928afb250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5328"/>
            <a:stretch>
              <a:fillRect/>
            </a:stretch>
          </p:blipFill>
          <p:spPr bwMode="auto">
            <a:xfrm>
              <a:off x="0" y="0"/>
              <a:ext cx="9151622" cy="812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矩形 5"/>
            <p:cNvSpPr/>
            <p:nvPr/>
          </p:nvSpPr>
          <p:spPr>
            <a:xfrm>
              <a:off x="0" y="0"/>
              <a:ext cx="9151622" cy="812067"/>
            </a:xfrm>
            <a:prstGeom prst="rect">
              <a:avLst/>
            </a:prstGeom>
            <a:solidFill>
              <a:srgbClr val="003296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57264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嵌入式软件智能合成基础理论与方法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207" y="149368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8817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64107" y="6470504"/>
            <a:ext cx="28448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 txBox="1"/>
          <p:nvPr userDrawn="1"/>
        </p:nvSpPr>
        <p:spPr>
          <a:xfrm>
            <a:off x="9064107" y="647050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08E000-400B-49E5-A4B3-B6F0CB0FC0D6}" type="slidenum">
              <a:rPr lang="zh-CN" altLang="en-US" sz="1400" smtClean="0"/>
            </a:fld>
            <a:endParaRPr lang="zh-CN" altLang="en-US" sz="1400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791936"/>
            <a:ext cx="1219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705\Desktop\d1a20cf431adcbef4528754daeaf2edda3cc9f58.png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1088555" y="57324"/>
            <a:ext cx="820352" cy="61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>
          <a:xfrm flipH="1">
            <a:off x="0" y="6465103"/>
            <a:ext cx="12192000" cy="10800"/>
          </a:xfrm>
          <a:prstGeom prst="rect">
            <a:avLst/>
          </a:prstGeom>
          <a:gradFill flip="none" rotWithShape="1">
            <a:gsLst>
              <a:gs pos="0">
                <a:srgbClr val="002060">
                  <a:alpha val="10000"/>
                </a:srgbClr>
              </a:gs>
              <a:gs pos="50000">
                <a:srgbClr val="002060"/>
              </a:gs>
              <a:gs pos="100000">
                <a:srgbClr val="002060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239350" y="6506295"/>
            <a:ext cx="40151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可信软件设计开发与验证的基础理论研究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085" y="131287"/>
            <a:ext cx="4493538" cy="523220"/>
          </a:xfrm>
        </p:spPr>
        <p:txBody>
          <a:bodyPr wrap="none">
            <a:spAutoFit/>
          </a:bodyPr>
          <a:lstStyle>
            <a:lvl1pPr algn="l">
              <a:defRPr lang="zh-CN" altLang="en-US" sz="2800" b="1">
                <a:ln w="1905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algn="l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E000-400B-49E5-A4B3-B6F0CB0FC0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>
                <a:latin typeface="Microsoft YaHei"/>
              </a:defRPr>
            </a:pPr>
            <a:r>
              <a:t>研究进展3：知识模型提取</a:t>
            </a: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155680" cy="43891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defRPr sz="1900" b="1">
                <a:solidFill>
                  <a:srgbClr val="003CB4"/>
                </a:solidFill>
                <a:latin typeface="Microsoft YaHei"/>
              </a:defRPr>
            </a:pPr>
            <a:r>
              <a:t>1/3   源码到自动机：批量生成可审查的源码级控制流图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91056"/>
            <a:ext cx="1783080" cy="57607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00" b="1">
                <a:solidFill>
                  <a:srgbClr val="003CB4"/>
                </a:solidFill>
                <a:latin typeface="Microsoft YaHei"/>
              </a:defRPr>
            </a:pPr>
            <a:r>
              <a:t>C 源码</a:t>
            </a:r>
          </a:p>
        </p:txBody>
      </p:sp>
      <p:sp>
        <p:nvSpPr>
          <p:cNvPr id="9" name="Chevron 8"/>
          <p:cNvSpPr/>
          <p:nvPr/>
        </p:nvSpPr>
        <p:spPr>
          <a:xfrm>
            <a:off x="2377439" y="1737360"/>
            <a:ext cx="210312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0632" y="1591056"/>
            <a:ext cx="1783080" cy="57607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00" b="1">
                <a:solidFill>
                  <a:srgbClr val="003CB4"/>
                </a:solidFill>
                <a:latin typeface="Microsoft YaHei"/>
              </a:defRPr>
            </a:pPr>
            <a:r>
              <a:t>文本级解析</a:t>
            </a:r>
          </a:p>
        </p:txBody>
      </p:sp>
      <p:sp>
        <p:nvSpPr>
          <p:cNvPr id="11" name="Chevron 10"/>
          <p:cNvSpPr/>
          <p:nvPr/>
        </p:nvSpPr>
        <p:spPr>
          <a:xfrm>
            <a:off x="4645152" y="1737360"/>
            <a:ext cx="210312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8344" y="1591056"/>
            <a:ext cx="1783080" cy="57607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00" b="1">
                <a:solidFill>
                  <a:srgbClr val="003CB4"/>
                </a:solidFill>
                <a:latin typeface="Microsoft YaHei"/>
              </a:defRPr>
            </a:pPr>
            <a:r>
              <a:t>控制结构建模</a:t>
            </a:r>
          </a:p>
        </p:txBody>
      </p:sp>
      <p:sp>
        <p:nvSpPr>
          <p:cNvPr id="13" name="Chevron 12"/>
          <p:cNvSpPr/>
          <p:nvPr/>
        </p:nvSpPr>
        <p:spPr>
          <a:xfrm>
            <a:off x="6912864" y="1737360"/>
            <a:ext cx="210312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06056" y="1591056"/>
            <a:ext cx="1783080" cy="57607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00" b="1">
                <a:solidFill>
                  <a:srgbClr val="003CB4"/>
                </a:solidFill>
                <a:latin typeface="Microsoft YaHei"/>
              </a:defRPr>
            </a:pPr>
            <a:r>
              <a:t>Graphviz 渲染</a:t>
            </a:r>
          </a:p>
        </p:txBody>
      </p:sp>
      <p:sp>
        <p:nvSpPr>
          <p:cNvPr id="15" name="Chevron 14"/>
          <p:cNvSpPr/>
          <p:nvPr/>
        </p:nvSpPr>
        <p:spPr>
          <a:xfrm>
            <a:off x="9180576" y="1737360"/>
            <a:ext cx="210312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73768" y="1591056"/>
            <a:ext cx="1783080" cy="576072"/>
          </a:xfrm>
          <a:prstGeom prst="roundRect">
            <a:avLst/>
          </a:prstGeom>
          <a:solidFill>
            <a:srgbClr val="E8F8FA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00" b="1">
                <a:solidFill>
                  <a:srgbClr val="07ACBD"/>
                </a:solidFill>
                <a:latin typeface="Microsoft YaHei"/>
              </a:defRPr>
            </a:pPr>
            <a:r>
              <a:t>PNG + 日志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50592"/>
            <a:ext cx="5349240" cy="1325880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576072" y="2523744"/>
            <a:ext cx="5202936" cy="393192"/>
          </a:xfrm>
          <a:prstGeom prst="roundRect">
            <a:avLst/>
          </a:prstGeom>
          <a:solidFill>
            <a:srgbClr val="003CB4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不依赖编译环境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044952"/>
            <a:ext cx="5020055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无需头文件、clang/LLVM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不完整或暂不可编译的 C 文件也可尽量生成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450592"/>
            <a:ext cx="5349240" cy="1325880"/>
          </a:xfrm>
          <a:prstGeom prst="roundRect">
            <a:avLst/>
          </a:prstGeom>
          <a:solidFill>
            <a:srgbClr val="E8F8FA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6364224" y="2523744"/>
            <a:ext cx="5202936" cy="393192"/>
          </a:xfrm>
          <a:prstGeom prst="roundRect">
            <a:avLst/>
          </a:prstGeom>
          <a:solidFill>
            <a:srgbClr val="07ACBD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覆盖主要控制结构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044952"/>
            <a:ext cx="5020055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if / else、各类循环、switch / case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识别 break、continue、return 与 goto 出口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86784"/>
            <a:ext cx="5349240" cy="1325880"/>
          </a:xfrm>
          <a:prstGeom prst="roundRect">
            <a:avLst/>
          </a:prstGeom>
          <a:solidFill>
            <a:srgbClr val="ECF8F0"/>
          </a:solidFill>
          <a:ln w="14604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576072" y="4059936"/>
            <a:ext cx="5202936" cy="393192"/>
          </a:xfrm>
          <a:prstGeom prst="roundRect">
            <a:avLst/>
          </a:prstGeom>
          <a:solidFill>
            <a:srgbClr val="2E8B57"/>
          </a:solidFill>
          <a:ln w="14604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可追踪、可审查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581144"/>
            <a:ext cx="5020055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日志记录函数、节点数、边数与节点源码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终止语句后的不可达代码仍显示，不静默丢语句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986784"/>
            <a:ext cx="5349240" cy="1325880"/>
          </a:xfrm>
          <a:prstGeom prst="roundRect">
            <a:avLst/>
          </a:prstGeom>
          <a:solidFill>
            <a:srgbClr val="FFF4E5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364224" y="4059936"/>
            <a:ext cx="5202936" cy="393192"/>
          </a:xfrm>
          <a:prstGeom prst="roundRect">
            <a:avLst/>
          </a:prstGeom>
          <a:solidFill>
            <a:srgbClr val="E78A20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批处理与离线交付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581144"/>
            <a:ext cx="5020055" cy="61264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Docker 封装，支持内网无网环境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当前样例集 16/16 成功生成；结果可直接进入知识库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68696"/>
            <a:ext cx="11137392" cy="502920"/>
          </a:xfrm>
          <a:prstGeom prst="roundRect">
            <a:avLst/>
          </a:prstGeom>
          <a:solidFill>
            <a:srgbClr val="F3F5F7"/>
          </a:solidFill>
          <a:ln w="14604">
            <a:solidFill>
              <a:srgbClr val="D0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0">
                <a:solidFill>
                  <a:srgbClr val="5B6573"/>
                </a:solidFill>
                <a:latin typeface="Microsoft YaHei"/>
              </a:defRPr>
            </a:pPr>
            <a:r>
              <a:t>定位：输出是面向批量知识抽取的源码级近似自动机，强调结构完整、可追踪和可离线运行。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>
                <a:latin typeface="Microsoft YaHei"/>
              </a:defRPr>
            </a:pPr>
            <a:r>
              <a:t>研究进展3：知识模型提取</a:t>
            </a: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155680" cy="43891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defRPr sz="1900" b="1">
                <a:solidFill>
                  <a:srgbClr val="003CB4"/>
                </a:solidFill>
                <a:latin typeface="Microsoft YaHei"/>
              </a:defRPr>
            </a:pPr>
            <a:r>
              <a:t>2/3   规约与循环不变式：先定义性质，再填写 annotation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874519" cy="60350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003CB4"/>
                </a:solidFill>
                <a:latin typeface="Microsoft YaHei"/>
              </a:defRPr>
            </a:pPr>
            <a:r>
              <a:t>读 C 程序</a:t>
            </a:r>
            <a:br/>
            <a:r>
              <a:t>明确目标</a:t>
            </a:r>
          </a:p>
        </p:txBody>
      </p:sp>
      <p:sp>
        <p:nvSpPr>
          <p:cNvPr id="9" name="Chevron 8"/>
          <p:cNvSpPr/>
          <p:nvPr/>
        </p:nvSpPr>
        <p:spPr>
          <a:xfrm>
            <a:off x="2478024" y="1737360"/>
            <a:ext cx="228600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39" y="1572768"/>
            <a:ext cx="1874519" cy="60350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3C5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3C56E5"/>
                </a:solidFill>
                <a:latin typeface="Microsoft YaHei"/>
              </a:defRPr>
            </a:pPr>
            <a:r>
              <a:t>定义数学</a:t>
            </a:r>
            <a:br/>
            <a:r>
              <a:t>spec</a:t>
            </a:r>
          </a:p>
        </p:txBody>
      </p:sp>
      <p:sp>
        <p:nvSpPr>
          <p:cNvPr id="11" name="Chevron 10"/>
          <p:cNvSpPr/>
          <p:nvPr/>
        </p:nvSpPr>
        <p:spPr>
          <a:xfrm>
            <a:off x="4809744" y="1737360"/>
            <a:ext cx="228600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1572768"/>
            <a:ext cx="1874519" cy="60350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07ACBD"/>
                </a:solidFill>
                <a:latin typeface="Microsoft YaHei"/>
              </a:defRPr>
            </a:pPr>
            <a:r>
              <a:t>填写 Require /</a:t>
            </a:r>
            <a:br/>
            <a:r>
              <a:t>Ensure / Inv</a:t>
            </a:r>
          </a:p>
        </p:txBody>
      </p:sp>
      <p:sp>
        <p:nvSpPr>
          <p:cNvPr id="13" name="Chevron 12"/>
          <p:cNvSpPr/>
          <p:nvPr/>
        </p:nvSpPr>
        <p:spPr>
          <a:xfrm>
            <a:off x="7141464" y="1737360"/>
            <a:ext cx="228600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79" y="1572768"/>
            <a:ext cx="1874519" cy="60350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2E8B57"/>
                </a:solidFill>
                <a:latin typeface="Microsoft YaHei"/>
              </a:defRPr>
            </a:pPr>
            <a:r>
              <a:t>QCP 交互</a:t>
            </a:r>
            <a:br/>
            <a:r>
              <a:t>检查与修正</a:t>
            </a:r>
          </a:p>
        </p:txBody>
      </p:sp>
      <p:sp>
        <p:nvSpPr>
          <p:cNvPr id="15" name="Chevron 14"/>
          <p:cNvSpPr/>
          <p:nvPr/>
        </p:nvSpPr>
        <p:spPr>
          <a:xfrm>
            <a:off x="9473184" y="1737360"/>
            <a:ext cx="228600" cy="256032"/>
          </a:xfrm>
          <a:prstGeom prst="chevron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29800" y="1572768"/>
            <a:ext cx="1874519" cy="60350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E78A20"/>
                </a:solidFill>
                <a:latin typeface="Microsoft YaHei"/>
              </a:defRPr>
            </a:pPr>
            <a:r>
              <a:t>annotation-</a:t>
            </a:r>
            <a:br/>
            <a:r>
              <a:t>checking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3520440" cy="2468880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576072" y="2514600"/>
            <a:ext cx="3374136" cy="393192"/>
          </a:xfrm>
          <a:prstGeom prst="roundRect">
            <a:avLst/>
          </a:prstGeom>
          <a:solidFill>
            <a:srgbClr val="003CB4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① 先写数学规格（spec-first）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035808"/>
            <a:ext cx="3191256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在 case_lib 中定义函数真正要满足的数学性质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描述输入与输出的关系，不在 Rocq 中照抄 C 算法或循环状态机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224528"/>
            <a:ext cx="2990088" cy="42062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1">
                <a:solidFill>
                  <a:srgbClr val="003CB4"/>
                </a:solidFill>
                <a:latin typeface="Consolas"/>
              </a:defRPr>
            </a:pPr>
            <a:r>
              <a:t>Post(input, output, state′)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2441448"/>
            <a:ext cx="3520440" cy="2468880"/>
          </a:xfrm>
          <a:prstGeom prst="roundRect">
            <a:avLst/>
          </a:prstGeom>
          <a:solidFill>
            <a:srgbClr val="E8F8FA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4407408" y="2514600"/>
            <a:ext cx="3374136" cy="393192"/>
          </a:xfrm>
          <a:prstGeom prst="roundRect">
            <a:avLst/>
          </a:prstGeom>
          <a:solidFill>
            <a:srgbClr val="07ACBD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② 再写 C annotation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035808"/>
            <a:ext cx="3191256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Require：变量范围与必要的内存资源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Ensure：调用数学 spec 表达最终结果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Assert / Inv：连接函数调用、分支与循环中间状态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9432" y="4224528"/>
            <a:ext cx="2990088" cy="42062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250" b="1">
                <a:solidFill>
                  <a:srgbClr val="07ACBD"/>
                </a:solidFill>
                <a:latin typeface="Consolas"/>
              </a:defRPr>
            </a:pPr>
            <a:r>
              <a:t>Require  →  Inv  →  Ensure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2441448"/>
            <a:ext cx="3520440" cy="2468880"/>
          </a:xfrm>
          <a:prstGeom prst="roundRect">
            <a:avLst/>
          </a:prstGeom>
          <a:solidFill>
            <a:srgbClr val="FFF4E5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238744" y="2514600"/>
            <a:ext cx="3374136" cy="393192"/>
          </a:xfrm>
          <a:prstGeom prst="roundRect">
            <a:avLst/>
          </a:prstGeom>
          <a:solidFill>
            <a:srgbClr val="E78A20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4406" bIns="84406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③ 不变式回答三个问题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3035808"/>
            <a:ext cx="3191256" cy="1755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初始化：进入循环前是否成立？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保持：执行一次循环体后是否仍成立？</a:t>
            </a:r>
          </a:p>
          <a:p>
            <a:pPr>
              <a:lnSpc>
                <a:spcPct val="95000"/>
              </a:lnSpc>
              <a:spcAft>
                <a:spcPts val="300"/>
              </a:spcAft>
              <a:defRPr sz="1300" b="0">
                <a:solidFill>
                  <a:srgbClr val="1F2937"/>
                </a:solidFill>
                <a:latin typeface="Microsoft YaHei"/>
              </a:defRPr>
            </a:pPr>
            <a:r>
              <a:t>• 退出：不变式与退出条件能否推出 Ensure？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30368"/>
            <a:ext cx="11183112" cy="7863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QCP 检查跑到文件尾  →  annotation-checking 检查 spec、函数规约和不变式  →  通过后才运行正式符号执行并生成 VC。</a:t>
            </a:r>
            <a:br/>
            <a:r>
              <a:t>任一步失败，都回到前面修正规约或 annotation，不把问题带入证明阶段。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标题 1"/>
          <p:cNvSpPr txBox="1"/>
          <p:nvPr/>
        </p:nvSpPr>
        <p:spPr>
          <a:xfrm>
            <a:off x="1" y="87814"/>
            <a:ext cx="1218436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800" b="1" kern="120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>
              <a:defRPr>
                <a:latin typeface="Microsoft YaHei"/>
              </a:defRPr>
            </a:pPr>
            <a:r>
              <a:t>研究进展3：知识模型提取</a:t>
            </a:r>
          </a:p>
        </p:txBody>
      </p:sp>
      <p:sp>
        <p:nvSpPr>
          <p:cNvPr id="3" name="灯片编号占位符 1"/>
          <p:cNvSpPr txBox="1"/>
          <p:nvPr/>
        </p:nvSpPr>
        <p:spPr>
          <a:xfrm>
            <a:off x="10050765" y="6495595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7208E000-400B-49E5-A4B3-B6F0CB0FC0D6}" type="slidenum">
              <a:rPr lang="zh-CN" altLang="en-US" sz="1400">
                <a:solidFill>
                  <a:srgbClr val="003798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zh-CN" altLang="en-US" sz="1400" dirty="0">
              <a:solidFill>
                <a:srgbClr val="003798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155680" cy="438912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91440" bIns="91440"/>
          <a:lstStyle/>
          <a:p>
            <a:pPr algn="l">
              <a:defRPr sz="1900" b="1">
                <a:solidFill>
                  <a:srgbClr val="003CB4"/>
                </a:solidFill>
                <a:latin typeface="Microsoft YaHei"/>
              </a:defRPr>
            </a:pPr>
            <a:r>
              <a:t>3/3   验证与测试：一套规约的两级可信闭环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394960" cy="3520440"/>
          </a:xfrm>
          <a:prstGeom prst="roundRect">
            <a:avLst/>
          </a:prstGeom>
          <a:solidFill>
            <a:srgbClr val="ECF3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04088" y="1700784"/>
            <a:ext cx="4992624" cy="429768"/>
          </a:xfrm>
          <a:prstGeom prst="roundRect">
            <a:avLst/>
          </a:prstGeom>
          <a:solidFill>
            <a:srgbClr val="003CB4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路线 A｜QCP + Rocq：全称形式化验证（16 个程序）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61288" y="2340864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03CB4"/>
                </a:solidFill>
                <a:latin typeface="Microsoft YaHei"/>
              </a:defRPr>
            </a:pPr>
            <a:r>
              <a:t>带 Require / Ensure / Inv 的 C 程序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08960" y="2871216"/>
            <a:ext cx="182880" cy="146304"/>
          </a:xfrm>
          <a:prstGeom prst="downArrow">
            <a:avLst/>
          </a:prstGeom>
          <a:solidFill>
            <a:srgbClr val="003CB4"/>
          </a:solidFill>
          <a:ln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1288" y="3035808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03CB4"/>
                </a:solidFill>
                <a:latin typeface="Microsoft YaHei"/>
              </a:defRPr>
            </a:pPr>
            <a:r>
              <a:t>符号执行自动生成验证条件（VC）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0" y="3566160"/>
            <a:ext cx="182880" cy="146304"/>
          </a:xfrm>
          <a:prstGeom prst="downArrow">
            <a:avLst/>
          </a:prstGeom>
          <a:solidFill>
            <a:srgbClr val="003CB4"/>
          </a:solidFill>
          <a:ln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61288" y="3730752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03CB4"/>
                </a:solidFill>
                <a:latin typeface="Microsoft YaHei"/>
              </a:defRPr>
            </a:pPr>
            <a:r>
              <a:t>Rocq 完成证明并由内核检查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08960" y="4261104"/>
            <a:ext cx="182880" cy="146304"/>
          </a:xfrm>
          <a:prstGeom prst="downArrow">
            <a:avLst/>
          </a:prstGeom>
          <a:solidFill>
            <a:srgbClr val="003CB4"/>
          </a:solidFill>
          <a:ln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61288" y="4425696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03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结论：对所有满足前置条件的输入成立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554480"/>
            <a:ext cx="5394960" cy="3520440"/>
          </a:xfrm>
          <a:prstGeom prst="roundRect">
            <a:avLst/>
          </a:prstGeom>
          <a:solidFill>
            <a:srgbClr val="E8F8FA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483096" y="1700784"/>
            <a:ext cx="4992624" cy="429768"/>
          </a:xfrm>
          <a:prstGeom prst="roundRect">
            <a:avLst/>
          </a:prstGeom>
          <a:solidFill>
            <a:srgbClr val="07ACBD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路线 B｜FloatTest：位级差分规约测试（79 个程序）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0296" y="2340864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7ACBD"/>
                </a:solidFill>
                <a:latin typeface="Microsoft YaHei"/>
              </a:defRPr>
            </a:pPr>
            <a:r>
              <a:t>同一输入分别执行 C 实现与 Rocq 可执行规约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87968" y="2871216"/>
            <a:ext cx="182880" cy="146304"/>
          </a:xfrm>
          <a:prstGeom prst="downArrow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0296" y="3035808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7ACBD"/>
                </a:solidFill>
                <a:latin typeface="Microsoft YaHei"/>
              </a:defRPr>
            </a:pPr>
            <a:r>
              <a:t>按 IEEE 754 bit pattern 逐位比较输出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887968" y="3566160"/>
            <a:ext cx="182880" cy="146304"/>
          </a:xfrm>
          <a:prstGeom prst="downArrow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0296" y="3730752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07ACBD"/>
                </a:solidFill>
                <a:latin typeface="Microsoft YaHei"/>
              </a:defRPr>
            </a:pPr>
            <a:r>
              <a:t>每个测试向量生成一条可编译 Rocq 定理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887968" y="4261104"/>
            <a:ext cx="182880" cy="146304"/>
          </a:xfrm>
          <a:prstGeom prst="downArrow">
            <a:avLst/>
          </a:prstGeom>
          <a:solidFill>
            <a:srgbClr val="07ACBD"/>
          </a:solidFill>
          <a:ln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0296" y="4425696"/>
            <a:ext cx="4078224" cy="51206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07A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350" b="1">
                <a:solidFill>
                  <a:srgbClr val="1F2937"/>
                </a:solidFill>
                <a:latin typeface="Microsoft YaHei"/>
              </a:defRPr>
            </a:pPr>
            <a:r>
              <a:t>结论：在采样输入上逐比特一致（约 7.87 万条定理）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30952"/>
            <a:ext cx="11173968" cy="758952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0">
                <a:solidFill>
                  <a:srgbClr val="1F2937"/>
                </a:solidFill>
                <a:latin typeface="Microsoft YaHe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694944" y="5495544"/>
            <a:ext cx="1572768" cy="420624"/>
          </a:xfrm>
          <a:prstGeom prst="roundRect">
            <a:avLst/>
          </a:prstGeom>
          <a:solidFill>
            <a:srgbClr val="E78A20"/>
          </a:solidFill>
          <a:ln w="14604">
            <a:solidFill>
              <a:srgbClr val="E7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6270" bIns="56270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不是二选一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449824"/>
            <a:ext cx="888796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t>证明可达的程序做全称证明；浮点／libm 密集、暂难经济证明的程序先做位级定理化测试；任何失败都反馈到规约与不变式提取环节。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4560</Words>
  <Application>WPS 演示</Application>
  <PresentationFormat>宽屏</PresentationFormat>
  <Paragraphs>308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</vt:lpstr>
      <vt:lpstr>Helvetica Light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705</dc:creator>
  <cp:lastModifiedBy>Meredith</cp:lastModifiedBy>
  <cp:revision>12560</cp:revision>
  <dcterms:created xsi:type="dcterms:W3CDTF">2015-05-09T01:34:00Z</dcterms:created>
  <dcterms:modified xsi:type="dcterms:W3CDTF">2026-09-20T12:16:00Z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3E81FD648FCE45139D71D136DFB3EDD6_12</vt:lpwstr>
  </property>
</Properties>
</file>